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7"/>
  </p:notesMasterIdLst>
  <p:sldIdLst>
    <p:sldId id="256" r:id="rId2"/>
    <p:sldId id="257" r:id="rId3"/>
    <p:sldId id="267" r:id="rId4"/>
    <p:sldId id="258" r:id="rId5"/>
    <p:sldId id="265" r:id="rId6"/>
    <p:sldId id="268" r:id="rId7"/>
    <p:sldId id="269" r:id="rId8"/>
    <p:sldId id="270" r:id="rId9"/>
    <p:sldId id="271" r:id="rId10"/>
    <p:sldId id="272" r:id="rId11"/>
    <p:sldId id="273" r:id="rId12"/>
    <p:sldId id="274" r:id="rId13"/>
    <p:sldId id="275" r:id="rId14"/>
    <p:sldId id="276" r:id="rId15"/>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7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B297B8-C5A1-4D83-8BCC-35E1FEFB3D39}" v="13" dt="2025-04-07T11:07:31.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Muthu" userId="ec5b02952eeaf810" providerId="LiveId" clId="{A0B297B8-C5A1-4D83-8BCC-35E1FEFB3D39}"/>
    <pc:docChg chg="undo custSel addSld delSld modSld">
      <pc:chgData name="Akash Muthu" userId="ec5b02952eeaf810" providerId="LiveId" clId="{A0B297B8-C5A1-4D83-8BCC-35E1FEFB3D39}" dt="2025-04-07T11:36:07.439" v="903" actId="113"/>
      <pc:docMkLst>
        <pc:docMk/>
      </pc:docMkLst>
      <pc:sldChg chg="modSp mod modClrScheme chgLayout">
        <pc:chgData name="Akash Muthu" userId="ec5b02952eeaf810" providerId="LiveId" clId="{A0B297B8-C5A1-4D83-8BCC-35E1FEFB3D39}" dt="2025-04-07T10:11:13.010" v="754" actId="1076"/>
        <pc:sldMkLst>
          <pc:docMk/>
          <pc:sldMk cId="1098767430" sldId="256"/>
        </pc:sldMkLst>
        <pc:spChg chg="mod ord">
          <ac:chgData name="Akash Muthu" userId="ec5b02952eeaf810" providerId="LiveId" clId="{A0B297B8-C5A1-4D83-8BCC-35E1FEFB3D39}" dt="2025-04-07T10:10:38.523" v="747" actId="1076"/>
          <ac:spMkLst>
            <pc:docMk/>
            <pc:sldMk cId="1098767430" sldId="256"/>
            <ac:spMk id="6" creationId="{0EB4E5F6-EE9A-B343-A6D8-21ABFA759321}"/>
          </ac:spMkLst>
        </pc:spChg>
        <pc:spChg chg="mod ord">
          <ac:chgData name="Akash Muthu" userId="ec5b02952eeaf810" providerId="LiveId" clId="{A0B297B8-C5A1-4D83-8BCC-35E1FEFB3D39}" dt="2025-04-07T10:11:13.010" v="754" actId="1076"/>
          <ac:spMkLst>
            <pc:docMk/>
            <pc:sldMk cId="1098767430" sldId="256"/>
            <ac:spMk id="8" creationId="{DF9FD0A6-5050-B108-0D0F-6D8E19EF9E86}"/>
          </ac:spMkLst>
        </pc:spChg>
      </pc:sldChg>
      <pc:sldChg chg="modSp mod">
        <pc:chgData name="Akash Muthu" userId="ec5b02952eeaf810" providerId="LiveId" clId="{A0B297B8-C5A1-4D83-8BCC-35E1FEFB3D39}" dt="2025-04-07T09:52:57.808" v="614" actId="20577"/>
        <pc:sldMkLst>
          <pc:docMk/>
          <pc:sldMk cId="418377012" sldId="257"/>
        </pc:sldMkLst>
        <pc:spChg chg="mod">
          <ac:chgData name="Akash Muthu" userId="ec5b02952eeaf810" providerId="LiveId" clId="{A0B297B8-C5A1-4D83-8BCC-35E1FEFB3D39}" dt="2025-04-07T09:52:57.808" v="614" actId="20577"/>
          <ac:spMkLst>
            <pc:docMk/>
            <pc:sldMk cId="418377012" sldId="257"/>
            <ac:spMk id="3" creationId="{522D56E9-BB9D-4819-A633-C357DD28CE05}"/>
          </ac:spMkLst>
        </pc:spChg>
        <pc:spChg chg="mod">
          <ac:chgData name="Akash Muthu" userId="ec5b02952eeaf810" providerId="LiveId" clId="{A0B297B8-C5A1-4D83-8BCC-35E1FEFB3D39}" dt="2025-04-07T09:52:32.780" v="611" actId="14100"/>
          <ac:spMkLst>
            <pc:docMk/>
            <pc:sldMk cId="418377012" sldId="257"/>
            <ac:spMk id="4" creationId="{4DA6B5BB-2568-4FC8-B074-A06BB43A8B07}"/>
          </ac:spMkLst>
        </pc:spChg>
      </pc:sldChg>
      <pc:sldChg chg="modSp mod">
        <pc:chgData name="Akash Muthu" userId="ec5b02952eeaf810" providerId="LiveId" clId="{A0B297B8-C5A1-4D83-8BCC-35E1FEFB3D39}" dt="2025-04-07T10:07:07.849" v="737" actId="1076"/>
        <pc:sldMkLst>
          <pc:docMk/>
          <pc:sldMk cId="2621356450" sldId="258"/>
        </pc:sldMkLst>
        <pc:spChg chg="mod">
          <ac:chgData name="Akash Muthu" userId="ec5b02952eeaf810" providerId="LiveId" clId="{A0B297B8-C5A1-4D83-8BCC-35E1FEFB3D39}" dt="2025-04-07T10:06:36.381" v="732" actId="1076"/>
          <ac:spMkLst>
            <pc:docMk/>
            <pc:sldMk cId="2621356450" sldId="258"/>
            <ac:spMk id="6" creationId="{70292E6A-3398-43D5-954F-66EAA4793B22}"/>
          </ac:spMkLst>
        </pc:spChg>
        <pc:spChg chg="mod">
          <ac:chgData name="Akash Muthu" userId="ec5b02952eeaf810" providerId="LiveId" clId="{A0B297B8-C5A1-4D83-8BCC-35E1FEFB3D39}" dt="2025-04-07T10:07:07.849" v="737" actId="1076"/>
          <ac:spMkLst>
            <pc:docMk/>
            <pc:sldMk cId="2621356450" sldId="258"/>
            <ac:spMk id="7" creationId="{993AB962-1090-4025-9E0D-8AF134FD2785}"/>
          </ac:spMkLst>
        </pc:spChg>
      </pc:sldChg>
      <pc:sldChg chg="addSp delSp modSp mod modClrScheme chgLayout">
        <pc:chgData name="Akash Muthu" userId="ec5b02952eeaf810" providerId="LiveId" clId="{A0B297B8-C5A1-4D83-8BCC-35E1FEFB3D39}" dt="2025-04-07T11:26:46.102" v="893" actId="1076"/>
        <pc:sldMkLst>
          <pc:docMk/>
          <pc:sldMk cId="1364506772" sldId="265"/>
        </pc:sldMkLst>
        <pc:spChg chg="add mod">
          <ac:chgData name="Akash Muthu" userId="ec5b02952eeaf810" providerId="LiveId" clId="{A0B297B8-C5A1-4D83-8BCC-35E1FEFB3D39}" dt="2025-04-07T11:26:46.102" v="893" actId="1076"/>
          <ac:spMkLst>
            <pc:docMk/>
            <pc:sldMk cId="1364506772" sldId="265"/>
            <ac:spMk id="3" creationId="{B944F49D-3868-25EA-380F-BB533B96C801}"/>
          </ac:spMkLst>
        </pc:spChg>
        <pc:spChg chg="del mod">
          <ac:chgData name="Akash Muthu" userId="ec5b02952eeaf810" providerId="LiveId" clId="{A0B297B8-C5A1-4D83-8BCC-35E1FEFB3D39}" dt="2025-04-07T08:26:52.073" v="4" actId="700"/>
          <ac:spMkLst>
            <pc:docMk/>
            <pc:sldMk cId="1364506772" sldId="265"/>
            <ac:spMk id="127" creationId="{00000000-0000-0000-0000-000000000000}"/>
          </ac:spMkLst>
        </pc:spChg>
        <pc:spChg chg="del mod">
          <ac:chgData name="Akash Muthu" userId="ec5b02952eeaf810" providerId="LiveId" clId="{A0B297B8-C5A1-4D83-8BCC-35E1FEFB3D39}" dt="2025-04-07T08:26:52.073" v="4" actId="700"/>
          <ac:spMkLst>
            <pc:docMk/>
            <pc:sldMk cId="1364506772" sldId="265"/>
            <ac:spMk id="128" creationId="{00000000-0000-0000-0000-000000000000}"/>
          </ac:spMkLst>
        </pc:spChg>
      </pc:sldChg>
      <pc:sldChg chg="del">
        <pc:chgData name="Akash Muthu" userId="ec5b02952eeaf810" providerId="LiveId" clId="{A0B297B8-C5A1-4D83-8BCC-35E1FEFB3D39}" dt="2025-04-07T10:02:34.659" v="693" actId="2696"/>
        <pc:sldMkLst>
          <pc:docMk/>
          <pc:sldMk cId="934174490" sldId="266"/>
        </pc:sldMkLst>
      </pc:sldChg>
      <pc:sldChg chg="modSp mod">
        <pc:chgData name="Akash Muthu" userId="ec5b02952eeaf810" providerId="LiveId" clId="{A0B297B8-C5A1-4D83-8BCC-35E1FEFB3D39}" dt="2025-04-07T08:27:57.429" v="15" actId="5793"/>
        <pc:sldMkLst>
          <pc:docMk/>
          <pc:sldMk cId="1421241463" sldId="267"/>
        </pc:sldMkLst>
        <pc:spChg chg="mod">
          <ac:chgData name="Akash Muthu" userId="ec5b02952eeaf810" providerId="LiveId" clId="{A0B297B8-C5A1-4D83-8BCC-35E1FEFB3D39}" dt="2025-04-07T08:27:57.429" v="15" actId="5793"/>
          <ac:spMkLst>
            <pc:docMk/>
            <pc:sldMk cId="1421241463" sldId="267"/>
            <ac:spMk id="10" creationId="{79EAF34D-D5E7-0D5D-7048-49E3473B763C}"/>
          </ac:spMkLst>
        </pc:spChg>
      </pc:sldChg>
      <pc:sldChg chg="addSp modSp new mod modAnim">
        <pc:chgData name="Akash Muthu" userId="ec5b02952eeaf810" providerId="LiveId" clId="{A0B297B8-C5A1-4D83-8BCC-35E1FEFB3D39}" dt="2025-04-07T11:28:13.878" v="897" actId="1076"/>
        <pc:sldMkLst>
          <pc:docMk/>
          <pc:sldMk cId="645812799" sldId="268"/>
        </pc:sldMkLst>
        <pc:spChg chg="add mod">
          <ac:chgData name="Akash Muthu" userId="ec5b02952eeaf810" providerId="LiveId" clId="{A0B297B8-C5A1-4D83-8BCC-35E1FEFB3D39}" dt="2025-04-07T11:28:07.187" v="896" actId="1076"/>
          <ac:spMkLst>
            <pc:docMk/>
            <pc:sldMk cId="645812799" sldId="268"/>
            <ac:spMk id="4" creationId="{E54A27E5-1BE6-22D1-3DD9-0092A72BCE17}"/>
          </ac:spMkLst>
        </pc:spChg>
        <pc:graphicFrameChg chg="add mod modGraphic">
          <ac:chgData name="Akash Muthu" userId="ec5b02952eeaf810" providerId="LiveId" clId="{A0B297B8-C5A1-4D83-8BCC-35E1FEFB3D39}" dt="2025-04-07T11:28:13.878" v="897" actId="1076"/>
          <ac:graphicFrameMkLst>
            <pc:docMk/>
            <pc:sldMk cId="645812799" sldId="268"/>
            <ac:graphicFrameMk id="2" creationId="{4FC82D9E-64E6-695A-4405-E8553E10C429}"/>
          </ac:graphicFrameMkLst>
        </pc:graphicFrameChg>
      </pc:sldChg>
      <pc:sldChg chg="addSp modSp new mod">
        <pc:chgData name="Akash Muthu" userId="ec5b02952eeaf810" providerId="LiveId" clId="{A0B297B8-C5A1-4D83-8BCC-35E1FEFB3D39}" dt="2025-04-07T10:05:42.487" v="724"/>
        <pc:sldMkLst>
          <pc:docMk/>
          <pc:sldMk cId="1095445264" sldId="269"/>
        </pc:sldMkLst>
        <pc:spChg chg="add mod">
          <ac:chgData name="Akash Muthu" userId="ec5b02952eeaf810" providerId="LiveId" clId="{A0B297B8-C5A1-4D83-8BCC-35E1FEFB3D39}" dt="2025-04-07T10:05:42.487" v="724"/>
          <ac:spMkLst>
            <pc:docMk/>
            <pc:sldMk cId="1095445264" sldId="269"/>
            <ac:spMk id="3" creationId="{B1B3A1F0-E1F1-0156-E76D-00ECCE930543}"/>
          </ac:spMkLst>
        </pc:spChg>
      </pc:sldChg>
      <pc:sldChg chg="addSp delSp modSp new mod modClrScheme chgLayout">
        <pc:chgData name="Akash Muthu" userId="ec5b02952eeaf810" providerId="LiveId" clId="{A0B297B8-C5A1-4D83-8BCC-35E1FEFB3D39}" dt="2025-04-07T11:34:25.849" v="900" actId="1076"/>
        <pc:sldMkLst>
          <pc:docMk/>
          <pc:sldMk cId="958671090" sldId="270"/>
        </pc:sldMkLst>
        <pc:spChg chg="del mod ord">
          <ac:chgData name="Akash Muthu" userId="ec5b02952eeaf810" providerId="LiveId" clId="{A0B297B8-C5A1-4D83-8BCC-35E1FEFB3D39}" dt="2025-04-07T09:29:33.670" v="323" actId="700"/>
          <ac:spMkLst>
            <pc:docMk/>
            <pc:sldMk cId="958671090" sldId="270"/>
            <ac:spMk id="2" creationId="{802F545E-6089-39A9-F4DE-F4AB85160ABA}"/>
          </ac:spMkLst>
        </pc:spChg>
        <pc:spChg chg="del">
          <ac:chgData name="Akash Muthu" userId="ec5b02952eeaf810" providerId="LiveId" clId="{A0B297B8-C5A1-4D83-8BCC-35E1FEFB3D39}" dt="2025-04-07T09:29:33.670" v="323" actId="700"/>
          <ac:spMkLst>
            <pc:docMk/>
            <pc:sldMk cId="958671090" sldId="270"/>
            <ac:spMk id="3" creationId="{E45E4A27-C7BA-5BE4-57B1-E88F0394E31D}"/>
          </ac:spMkLst>
        </pc:spChg>
        <pc:spChg chg="add mod ord">
          <ac:chgData name="Akash Muthu" userId="ec5b02952eeaf810" providerId="LiveId" clId="{A0B297B8-C5A1-4D83-8BCC-35E1FEFB3D39}" dt="2025-04-07T10:05:51.004" v="725"/>
          <ac:spMkLst>
            <pc:docMk/>
            <pc:sldMk cId="958671090" sldId="270"/>
            <ac:spMk id="4" creationId="{C16FC3F4-B4C8-D8BD-E3D9-00C09C3BF4B5}"/>
          </ac:spMkLst>
        </pc:spChg>
        <pc:spChg chg="add mod ord">
          <ac:chgData name="Akash Muthu" userId="ec5b02952eeaf810" providerId="LiveId" clId="{A0B297B8-C5A1-4D83-8BCC-35E1FEFB3D39}" dt="2025-04-07T11:34:25.849" v="900" actId="1076"/>
          <ac:spMkLst>
            <pc:docMk/>
            <pc:sldMk cId="958671090" sldId="270"/>
            <ac:spMk id="5" creationId="{77DF041C-BBE7-000D-A815-4B3E5D9EA3C7}"/>
          </ac:spMkLst>
        </pc:spChg>
      </pc:sldChg>
      <pc:sldChg chg="addSp modSp new mod">
        <pc:chgData name="Akash Muthu" userId="ec5b02952eeaf810" providerId="LiveId" clId="{A0B297B8-C5A1-4D83-8BCC-35E1FEFB3D39}" dt="2025-04-07T11:07:25.077" v="888" actId="20577"/>
        <pc:sldMkLst>
          <pc:docMk/>
          <pc:sldMk cId="1646532717" sldId="271"/>
        </pc:sldMkLst>
        <pc:spChg chg="add mod">
          <ac:chgData name="Akash Muthu" userId="ec5b02952eeaf810" providerId="LiveId" clId="{A0B297B8-C5A1-4D83-8BCC-35E1FEFB3D39}" dt="2025-04-07T11:07:25.077" v="888" actId="20577"/>
          <ac:spMkLst>
            <pc:docMk/>
            <pc:sldMk cId="1646532717" sldId="271"/>
            <ac:spMk id="3" creationId="{08FCFEBC-AF45-E7A1-9BE0-9163866881E0}"/>
          </ac:spMkLst>
        </pc:spChg>
      </pc:sldChg>
      <pc:sldChg chg="addSp modSp new mod">
        <pc:chgData name="Akash Muthu" userId="ec5b02952eeaf810" providerId="LiveId" clId="{A0B297B8-C5A1-4D83-8BCC-35E1FEFB3D39}" dt="2025-04-07T11:34:08.216" v="899" actId="120"/>
        <pc:sldMkLst>
          <pc:docMk/>
          <pc:sldMk cId="1375002767" sldId="272"/>
        </pc:sldMkLst>
        <pc:spChg chg="add mod">
          <ac:chgData name="Akash Muthu" userId="ec5b02952eeaf810" providerId="LiveId" clId="{A0B297B8-C5A1-4D83-8BCC-35E1FEFB3D39}" dt="2025-04-07T11:34:08.216" v="899" actId="120"/>
          <ac:spMkLst>
            <pc:docMk/>
            <pc:sldMk cId="1375002767" sldId="272"/>
            <ac:spMk id="3" creationId="{FDDE9266-3A7B-B3F1-B00D-062E9BA2D081}"/>
          </ac:spMkLst>
        </pc:spChg>
      </pc:sldChg>
      <pc:sldChg chg="addSp modSp new mod">
        <pc:chgData name="Akash Muthu" userId="ec5b02952eeaf810" providerId="LiveId" clId="{A0B297B8-C5A1-4D83-8BCC-35E1FEFB3D39}" dt="2025-04-07T10:12:15.759" v="756" actId="1076"/>
        <pc:sldMkLst>
          <pc:docMk/>
          <pc:sldMk cId="1603583694" sldId="273"/>
        </pc:sldMkLst>
        <pc:spChg chg="add mod">
          <ac:chgData name="Akash Muthu" userId="ec5b02952eeaf810" providerId="LiveId" clId="{A0B297B8-C5A1-4D83-8BCC-35E1FEFB3D39}" dt="2025-04-07T10:12:15.759" v="756" actId="1076"/>
          <ac:spMkLst>
            <pc:docMk/>
            <pc:sldMk cId="1603583694" sldId="273"/>
            <ac:spMk id="3" creationId="{E073382F-17F4-61C6-7B7E-D550AB4F79DD}"/>
          </ac:spMkLst>
        </pc:spChg>
      </pc:sldChg>
      <pc:sldChg chg="addSp modSp new mod">
        <pc:chgData name="Akash Muthu" userId="ec5b02952eeaf810" providerId="LiveId" clId="{A0B297B8-C5A1-4D83-8BCC-35E1FEFB3D39}" dt="2025-04-07T09:51:38.441" v="605" actId="1076"/>
        <pc:sldMkLst>
          <pc:docMk/>
          <pc:sldMk cId="927658828" sldId="274"/>
        </pc:sldMkLst>
        <pc:spChg chg="add mod">
          <ac:chgData name="Akash Muthu" userId="ec5b02952eeaf810" providerId="LiveId" clId="{A0B297B8-C5A1-4D83-8BCC-35E1FEFB3D39}" dt="2025-04-07T09:51:38.441" v="605" actId="1076"/>
          <ac:spMkLst>
            <pc:docMk/>
            <pc:sldMk cId="927658828" sldId="274"/>
            <ac:spMk id="3" creationId="{07AC48B3-4A4E-0DEC-BC4B-B0FA6518211D}"/>
          </ac:spMkLst>
        </pc:spChg>
      </pc:sldChg>
      <pc:sldChg chg="addSp modSp new mod">
        <pc:chgData name="Akash Muthu" userId="ec5b02952eeaf810" providerId="LiveId" clId="{A0B297B8-C5A1-4D83-8BCC-35E1FEFB3D39}" dt="2025-04-07T11:09:11.268" v="892" actId="113"/>
        <pc:sldMkLst>
          <pc:docMk/>
          <pc:sldMk cId="1745029263" sldId="275"/>
        </pc:sldMkLst>
        <pc:spChg chg="add mod">
          <ac:chgData name="Akash Muthu" userId="ec5b02952eeaf810" providerId="LiveId" clId="{A0B297B8-C5A1-4D83-8BCC-35E1FEFB3D39}" dt="2025-04-07T11:09:11.268" v="892" actId="113"/>
          <ac:spMkLst>
            <pc:docMk/>
            <pc:sldMk cId="1745029263" sldId="275"/>
            <ac:spMk id="3" creationId="{0E733774-C269-FA81-DC10-0ACBA612FEBD}"/>
          </ac:spMkLst>
        </pc:spChg>
      </pc:sldChg>
      <pc:sldChg chg="addSp modSp new mod">
        <pc:chgData name="Akash Muthu" userId="ec5b02952eeaf810" providerId="LiveId" clId="{A0B297B8-C5A1-4D83-8BCC-35E1FEFB3D39}" dt="2025-04-07T10:00:35.918" v="691" actId="1076"/>
        <pc:sldMkLst>
          <pc:docMk/>
          <pc:sldMk cId="992179908" sldId="276"/>
        </pc:sldMkLst>
        <pc:spChg chg="add mod">
          <ac:chgData name="Akash Muthu" userId="ec5b02952eeaf810" providerId="LiveId" clId="{A0B297B8-C5A1-4D83-8BCC-35E1FEFB3D39}" dt="2025-04-07T10:00:35.918" v="691" actId="1076"/>
          <ac:spMkLst>
            <pc:docMk/>
            <pc:sldMk cId="992179908" sldId="276"/>
            <ac:spMk id="3" creationId="{23646D3B-E83A-52FD-E0AA-7F2AF9C5BA73}"/>
          </ac:spMkLst>
        </pc:spChg>
      </pc:sldChg>
      <pc:sldChg chg="addSp modSp new mod">
        <pc:chgData name="Akash Muthu" userId="ec5b02952eeaf810" providerId="LiveId" clId="{A0B297B8-C5A1-4D83-8BCC-35E1FEFB3D39}" dt="2025-04-07T11:36:07.439" v="903" actId="113"/>
        <pc:sldMkLst>
          <pc:docMk/>
          <pc:sldMk cId="1531074119" sldId="277"/>
        </pc:sldMkLst>
        <pc:spChg chg="add mod">
          <ac:chgData name="Akash Muthu" userId="ec5b02952eeaf810" providerId="LiveId" clId="{A0B297B8-C5A1-4D83-8BCC-35E1FEFB3D39}" dt="2025-04-07T11:36:07.439" v="903" actId="113"/>
          <ac:spMkLst>
            <pc:docMk/>
            <pc:sldMk cId="1531074119" sldId="277"/>
            <ac:spMk id="3" creationId="{D6E1F32D-5392-2A49-9EB0-707D9957D4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64E10B-B0A2-460C-A531-6DE9B091231F}" type="datetimeFigureOut">
              <a:rPr lang="en-IN" smtClean="0"/>
              <a:t>07-04-2025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E31016-02B1-40B0-B1B5-C1BFCAA7E3EF}" type="slidenum">
              <a:rPr lang="en-IN" smtClean="0"/>
              <a:t>‹#›</a:t>
            </a:fld>
            <a:endParaRPr lang="en-IN"/>
          </a:p>
        </p:txBody>
      </p:sp>
    </p:spTree>
    <p:extLst>
      <p:ext uri="{BB962C8B-B14F-4D97-AF65-F5344CB8AC3E}">
        <p14:creationId xmlns:p14="http://schemas.microsoft.com/office/powerpoint/2010/main" val="1059418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472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51BD9913-18C0-43BD-9D62-CBD9AF1A5C45}"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1037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124331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1784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62A81A-3438-4E59-A452-6F8027DDB35C}"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228430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62A81A-3438-4E59-A452-6F8027DDB35C}" type="datetimeFigureOut">
              <a:rPr lang="en-IN" smtClean="0"/>
              <a:t>07-04-2025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BD9913-18C0-43BD-9D62-CBD9AF1A5C45}"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173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62A81A-3438-4E59-A452-6F8027DDB35C}" type="datetimeFigureOut">
              <a:rPr lang="en-IN" smtClean="0"/>
              <a:t>07-04-2025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BD9913-18C0-43BD-9D62-CBD9AF1A5C4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8235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62A81A-3438-4E59-A452-6F8027DDB35C}" type="datetimeFigureOut">
              <a:rPr lang="en-IN" smtClean="0"/>
              <a:t>07-04-2025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985238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62A81A-3438-4E59-A452-6F8027DDB35C}"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798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62A81A-3438-4E59-A452-6F8027DDB35C}"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822940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62A81A-3438-4E59-A452-6F8027DDB35C}"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03622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4091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1546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1790343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9844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469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8819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2A81A-3438-4E59-A452-6F8027DDB35C}"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6933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362A81A-3438-4E59-A452-6F8027DDB35C}" type="datetimeFigureOut">
              <a:rPr lang="en-IN" smtClean="0"/>
              <a:t>07-04-2025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1BD9913-18C0-43BD-9D62-CBD9AF1A5C45}" type="slidenum">
              <a:rPr lang="en-IN" smtClean="0"/>
              <a:t>‹#›</a:t>
            </a:fld>
            <a:endParaRPr lang="en-IN"/>
          </a:p>
        </p:txBody>
      </p:sp>
    </p:spTree>
    <p:extLst>
      <p:ext uri="{BB962C8B-B14F-4D97-AF65-F5344CB8AC3E}">
        <p14:creationId xmlns:p14="http://schemas.microsoft.com/office/powerpoint/2010/main" val="349880515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F9FD0A6-5050-B108-0D0F-6D8E19EF9E86}"/>
              </a:ext>
            </a:extLst>
          </p:cNvPr>
          <p:cNvSpPr>
            <a:spLocks noGrp="1"/>
          </p:cNvSpPr>
          <p:nvPr>
            <p:ph type="ctrTitle"/>
          </p:nvPr>
        </p:nvSpPr>
        <p:spPr>
          <a:xfrm>
            <a:off x="2688165" y="2798791"/>
            <a:ext cx="6815669" cy="660401"/>
          </a:xfrm>
        </p:spPr>
        <p:txBody>
          <a:bodyPr>
            <a:noAutofit/>
          </a:bodyPr>
          <a:lstStyle/>
          <a:p>
            <a:r>
              <a:rPr lang="en-US" sz="3000" b="1" dirty="0"/>
              <a:t>Bank Churn Prediction Using ML</a:t>
            </a:r>
            <a:endParaRPr lang="en-IN" sz="4000" dirty="0"/>
          </a:p>
        </p:txBody>
      </p:sp>
      <p:sp>
        <p:nvSpPr>
          <p:cNvPr id="6" name="Text Placeholder 5">
            <a:extLst>
              <a:ext uri="{FF2B5EF4-FFF2-40B4-BE49-F238E27FC236}">
                <a16:creationId xmlns:a16="http://schemas.microsoft.com/office/drawing/2014/main" id="{0EB4E5F6-EE9A-B343-A6D8-21ABFA759321}"/>
              </a:ext>
            </a:extLst>
          </p:cNvPr>
          <p:cNvSpPr>
            <a:spLocks noGrp="1"/>
          </p:cNvSpPr>
          <p:nvPr>
            <p:ph type="subTitle" idx="1"/>
          </p:nvPr>
        </p:nvSpPr>
        <p:spPr>
          <a:xfrm>
            <a:off x="2692398" y="3933643"/>
            <a:ext cx="6815669" cy="1320802"/>
          </a:xfrm>
        </p:spPr>
        <p:txBody>
          <a:bodyPr>
            <a:normAutofit/>
          </a:bodyPr>
          <a:lstStyle/>
          <a:p>
            <a:r>
              <a:rPr lang="en-US" b="1" dirty="0"/>
              <a:t>Submitted By</a:t>
            </a:r>
          </a:p>
          <a:p>
            <a:r>
              <a:rPr lang="en-US" b="1" dirty="0"/>
              <a:t>Akash M </a:t>
            </a:r>
            <a:endParaRPr lang="en-IN" b="1" dirty="0"/>
          </a:p>
        </p:txBody>
      </p:sp>
    </p:spTree>
    <p:extLst>
      <p:ext uri="{BB962C8B-B14F-4D97-AF65-F5344CB8AC3E}">
        <p14:creationId xmlns:p14="http://schemas.microsoft.com/office/powerpoint/2010/main" val="1098767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D56E9-BB9D-4819-A633-C357DD28CE05}"/>
              </a:ext>
            </a:extLst>
          </p:cNvPr>
          <p:cNvSpPr>
            <a:spLocks noGrp="1"/>
          </p:cNvSpPr>
          <p:nvPr>
            <p:ph idx="1"/>
          </p:nvPr>
        </p:nvSpPr>
        <p:spPr/>
        <p:txBody>
          <a:bodyPr>
            <a:normAutofit fontScale="92500" lnSpcReduction="10000"/>
          </a:bodyPr>
          <a:lstStyle/>
          <a:p>
            <a:pPr marL="0" indent="0" algn="just">
              <a:buNone/>
            </a:pPr>
            <a:r>
              <a:rPr lang="en-US" dirty="0"/>
              <a:t>Customer churn is a significant issue for banks, impacting revenue and customer lifetime value. The goal is to develop a machine learning model that predicts whether a customer will churn (leave the bank) based on their demographic, financial, and account activity data.</a:t>
            </a:r>
          </a:p>
          <a:p>
            <a:pPr marL="0" indent="0">
              <a:buNone/>
            </a:pPr>
            <a:r>
              <a:rPr lang="en-US" b="1" dirty="0"/>
              <a:t>Objective:</a:t>
            </a:r>
          </a:p>
          <a:p>
            <a:pPr lvl="1" algn="just">
              <a:buClr>
                <a:schemeClr val="tx1"/>
              </a:buClr>
              <a:buFont typeface="Arial" panose="020B0604020202020204" pitchFamily="34" charset="0"/>
              <a:buChar char="•"/>
            </a:pPr>
            <a:r>
              <a:rPr lang="en-US" dirty="0"/>
              <a:t>Build a predictive model to classify customers as likely to churn (Exited = 1) or stay    (Exited = 0).</a:t>
            </a:r>
          </a:p>
          <a:p>
            <a:pPr lvl="1" algn="just">
              <a:buClr>
                <a:schemeClr val="tx1"/>
              </a:buClr>
            </a:pPr>
            <a:r>
              <a:rPr lang="en-US" dirty="0"/>
              <a:t>Identify key factors influencing customer attrition.</a:t>
            </a:r>
          </a:p>
          <a:p>
            <a:pPr lvl="1" algn="just">
              <a:buClr>
                <a:schemeClr val="tx1"/>
              </a:buClr>
            </a:pPr>
            <a:r>
              <a:rPr lang="en-US" dirty="0"/>
              <a:t>Provide actionable insights for customer retention strategies.</a:t>
            </a:r>
          </a:p>
        </p:txBody>
      </p:sp>
      <p:sp>
        <p:nvSpPr>
          <p:cNvPr id="4" name="Rectangle 3">
            <a:extLst>
              <a:ext uri="{FF2B5EF4-FFF2-40B4-BE49-F238E27FC236}">
                <a16:creationId xmlns:a16="http://schemas.microsoft.com/office/drawing/2014/main" id="{4DA6B5BB-2568-4FC8-B074-A06BB43A8B07}"/>
              </a:ext>
            </a:extLst>
          </p:cNvPr>
          <p:cNvSpPr/>
          <p:nvPr/>
        </p:nvSpPr>
        <p:spPr>
          <a:xfrm>
            <a:off x="1362974" y="1643857"/>
            <a:ext cx="9411418" cy="707886"/>
          </a:xfrm>
          <a:prstGeom prst="rect">
            <a:avLst/>
          </a:prstGeom>
          <a:noFill/>
        </p:spPr>
        <p:txBody>
          <a:bodyPr wrap="square" lIns="91440" tIns="45720" rIns="91440" bIns="45720">
            <a:spAutoFit/>
          </a:bodyPr>
          <a:lstStyle/>
          <a:p>
            <a:pPr algn="ctr"/>
            <a:r>
              <a:rPr lang="en-US" sz="4000" dirty="0">
                <a:ln w="0"/>
                <a:effectLst>
                  <a:outerShdw blurRad="38100" dist="25400" dir="5400000" algn="ctr" rotWithShape="0">
                    <a:srgbClr val="6E747A">
                      <a:alpha val="43000"/>
                    </a:srgbClr>
                  </a:outerShdw>
                </a:effectLst>
                <a:latin typeface="Arial Black" panose="020B0A04020102020204" pitchFamily="34" charset="0"/>
              </a:rPr>
              <a:t>Problem Statement</a:t>
            </a:r>
            <a:endParaRPr lang="en-US" sz="4000" b="0" cap="none" spc="0" dirty="0">
              <a:ln w="0"/>
              <a:effectLst>
                <a:outerShdw blurRad="38100" dist="25400" dir="5400000" algn="ctr" rotWithShape="0">
                  <a:srgbClr val="6E747A">
                    <a:alpha val="43000"/>
                  </a:srgbClr>
                </a:outerShdw>
              </a:effectLst>
              <a:latin typeface="Arial Black" panose="020B0A04020102020204" pitchFamily="34" charset="0"/>
            </a:endParaRPr>
          </a:p>
        </p:txBody>
      </p:sp>
    </p:spTree>
    <p:extLst>
      <p:ext uri="{BB962C8B-B14F-4D97-AF65-F5344CB8AC3E}">
        <p14:creationId xmlns:p14="http://schemas.microsoft.com/office/powerpoint/2010/main" val="418377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9EAF34D-D5E7-0D5D-7048-49E3473B763C}"/>
              </a:ext>
            </a:extLst>
          </p:cNvPr>
          <p:cNvSpPr txBox="1"/>
          <p:nvPr/>
        </p:nvSpPr>
        <p:spPr>
          <a:xfrm>
            <a:off x="846827" y="691912"/>
            <a:ext cx="10498346" cy="5016758"/>
          </a:xfrm>
          <a:prstGeom prst="rect">
            <a:avLst/>
          </a:prstGeom>
          <a:noFill/>
        </p:spPr>
        <p:txBody>
          <a:bodyPr wrap="square">
            <a:spAutoFit/>
          </a:bodyPr>
          <a:lstStyle/>
          <a:p>
            <a:pPr marL="144000" algn="ctr">
              <a:buNone/>
            </a:pPr>
            <a:r>
              <a:rPr lang="en-US" sz="3000" b="1" dirty="0"/>
              <a:t>Abstract</a:t>
            </a:r>
          </a:p>
          <a:p>
            <a:pPr marL="144000" algn="ctr"/>
            <a:r>
              <a:rPr lang="en-US" sz="3000" b="1" dirty="0"/>
              <a:t> </a:t>
            </a:r>
          </a:p>
          <a:p>
            <a:pPr marL="342900" indent="-342900" algn="just">
              <a:buFont typeface="Wingdings" panose="05000000000000000000" pitchFamily="2" charset="2"/>
              <a:buChar char="v"/>
            </a:pPr>
            <a:r>
              <a:rPr lang="en-US" sz="2000" b="1" dirty="0"/>
              <a:t>Purpose</a:t>
            </a:r>
            <a:r>
              <a:rPr lang="en-US" sz="2000" dirty="0"/>
              <a:t>: The project aims to predict customer churn in a bank using Machine Learning techniques.</a:t>
            </a:r>
          </a:p>
          <a:p>
            <a:pPr marL="342900" indent="-342900" algn="just">
              <a:buFont typeface="Wingdings" panose="05000000000000000000" pitchFamily="2" charset="2"/>
              <a:buChar char="v"/>
            </a:pPr>
            <a:r>
              <a:rPr lang="en-US" sz="2000" b="1" dirty="0"/>
              <a:t>Importance</a:t>
            </a:r>
            <a:r>
              <a:rPr lang="en-US" sz="2000" dirty="0"/>
              <a:t>: Early prediction helps banks improve customer retention and reduce revenue loss.</a:t>
            </a:r>
          </a:p>
          <a:p>
            <a:pPr marL="342900" indent="-342900" algn="just">
              <a:buFont typeface="Wingdings" panose="05000000000000000000" pitchFamily="2" charset="2"/>
              <a:buChar char="v"/>
            </a:pPr>
            <a:r>
              <a:rPr lang="en-US" sz="2000" b="1" dirty="0"/>
              <a:t>Dataset</a:t>
            </a:r>
            <a:r>
              <a:rPr lang="en-US" sz="2000" dirty="0"/>
              <a:t>: Utilized a bank churn dataset containing features like Age, Gender, Geography, Balance, and more.</a:t>
            </a:r>
          </a:p>
          <a:p>
            <a:pPr marL="342900" indent="-342900" algn="just">
              <a:buFont typeface="Wingdings" panose="05000000000000000000" pitchFamily="2" charset="2"/>
              <a:buChar char="v"/>
            </a:pPr>
            <a:r>
              <a:rPr lang="en-US" sz="2000" b="1" dirty="0"/>
              <a:t>Preprocessing</a:t>
            </a:r>
            <a:r>
              <a:rPr lang="en-US" sz="2000" dirty="0"/>
              <a:t>: Performed data cleaning, dropped irrelevant columns, encoded categorical variables, and handled imbalances.</a:t>
            </a:r>
          </a:p>
          <a:p>
            <a:pPr marL="342900" indent="-342900" algn="just">
              <a:buFont typeface="Wingdings" panose="05000000000000000000" pitchFamily="2" charset="2"/>
              <a:buChar char="v"/>
            </a:pPr>
            <a:r>
              <a:rPr lang="en-US" sz="2000" b="1" dirty="0"/>
              <a:t>Exploratory Data Analysis</a:t>
            </a:r>
            <a:r>
              <a:rPr lang="en-US" sz="2000" dirty="0"/>
              <a:t>: Visualized churn distribution by gender and geography to uncover patterns and correlations.</a:t>
            </a:r>
          </a:p>
          <a:p>
            <a:pPr marL="342900" indent="-342900" algn="just">
              <a:buFont typeface="Wingdings" panose="05000000000000000000" pitchFamily="2" charset="2"/>
              <a:buChar char="v"/>
            </a:pPr>
            <a:r>
              <a:rPr lang="en-US" sz="2000" b="1" dirty="0"/>
              <a:t>Model Building</a:t>
            </a:r>
            <a:r>
              <a:rPr lang="en-US" sz="2000" dirty="0"/>
              <a:t>: Trained multiple ML models including Logistic Regression and Decision Tree to classify customer churn.</a:t>
            </a:r>
          </a:p>
          <a:p>
            <a:pPr marL="342900" indent="-342900" algn="just">
              <a:buFont typeface="Wingdings" panose="05000000000000000000" pitchFamily="2" charset="2"/>
              <a:buChar char="v"/>
            </a:pPr>
            <a:r>
              <a:rPr lang="en-US" sz="2000" b="1" dirty="0"/>
              <a:t>Evaluation</a:t>
            </a:r>
            <a:r>
              <a:rPr lang="en-US" sz="2000" dirty="0"/>
              <a:t>: Used accuracy, precision, recall, and F1-score to evaluate model performance.</a:t>
            </a:r>
          </a:p>
          <a:p>
            <a:pPr marL="342900" indent="-342900" algn="just">
              <a:buFont typeface="Wingdings" panose="05000000000000000000" pitchFamily="2" charset="2"/>
              <a:buChar char="v"/>
            </a:pPr>
            <a:r>
              <a:rPr lang="en-US" sz="2000" b="1" dirty="0"/>
              <a:t>Conclusion</a:t>
            </a:r>
            <a:r>
              <a:rPr lang="en-US" sz="2000" dirty="0"/>
              <a:t>: The model provides valuable insights to help banks identify potential churners and take timely action.</a:t>
            </a:r>
          </a:p>
        </p:txBody>
      </p:sp>
    </p:spTree>
    <p:extLst>
      <p:ext uri="{BB962C8B-B14F-4D97-AF65-F5344CB8AC3E}">
        <p14:creationId xmlns:p14="http://schemas.microsoft.com/office/powerpoint/2010/main" val="1421241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0292E6A-3398-43D5-954F-66EAA4793B22}"/>
              </a:ext>
            </a:extLst>
          </p:cNvPr>
          <p:cNvSpPr>
            <a:spLocks noGrp="1"/>
          </p:cNvSpPr>
          <p:nvPr>
            <p:ph idx="4294967295"/>
          </p:nvPr>
        </p:nvSpPr>
        <p:spPr>
          <a:xfrm>
            <a:off x="1183572" y="1303578"/>
            <a:ext cx="9918728" cy="5071343"/>
          </a:xfrm>
        </p:spPr>
        <p:txBody>
          <a:bodyPr>
            <a:normAutofit fontScale="85000" lnSpcReduction="20000"/>
          </a:bodyPr>
          <a:lstStyle/>
          <a:p>
            <a:pPr marL="0" indent="0">
              <a:buNone/>
            </a:pPr>
            <a:r>
              <a:rPr lang="en-US" sz="2800" dirty="0">
                <a:solidFill>
                  <a:srgbClr val="0070C0"/>
                </a:solidFill>
              </a:rPr>
              <a:t>The dataset consists of </a:t>
            </a:r>
            <a:r>
              <a:rPr lang="en-US" sz="2800" b="1" dirty="0">
                <a:solidFill>
                  <a:srgbClr val="0070C0"/>
                </a:solidFill>
              </a:rPr>
              <a:t>10,000 records</a:t>
            </a:r>
            <a:r>
              <a:rPr lang="en-US" sz="2800" dirty="0">
                <a:solidFill>
                  <a:srgbClr val="0070C0"/>
                </a:solidFill>
              </a:rPr>
              <a:t> with </a:t>
            </a:r>
            <a:r>
              <a:rPr lang="en-US" sz="2800" b="1" dirty="0">
                <a:solidFill>
                  <a:srgbClr val="0070C0"/>
                </a:solidFill>
              </a:rPr>
              <a:t>13 features</a:t>
            </a:r>
            <a:r>
              <a:rPr lang="en-US" sz="2100" dirty="0"/>
              <a:t>:</a:t>
            </a:r>
          </a:p>
          <a:p>
            <a:pPr>
              <a:buClr>
                <a:schemeClr val="tx1"/>
              </a:buClr>
            </a:pPr>
            <a:r>
              <a:rPr lang="en-US" sz="2100" b="1" dirty="0"/>
              <a:t>CustomerId</a:t>
            </a:r>
            <a:r>
              <a:rPr lang="en-US" sz="2100" dirty="0"/>
              <a:t>: Unique identifier for each customer.</a:t>
            </a:r>
          </a:p>
          <a:p>
            <a:pPr>
              <a:buClr>
                <a:schemeClr val="tx1"/>
              </a:buClr>
            </a:pPr>
            <a:r>
              <a:rPr lang="en-US" sz="2100" b="1" dirty="0"/>
              <a:t>Lastname</a:t>
            </a:r>
            <a:r>
              <a:rPr lang="en-US" sz="2100" dirty="0"/>
              <a:t>: Customer's last name (not useful for prediction).</a:t>
            </a:r>
          </a:p>
          <a:p>
            <a:pPr>
              <a:buClr>
                <a:schemeClr val="tx1"/>
              </a:buClr>
            </a:pPr>
            <a:r>
              <a:rPr lang="en-US" sz="2100" b="1" dirty="0"/>
              <a:t>CreditScore</a:t>
            </a:r>
            <a:r>
              <a:rPr lang="en-US" sz="2100" dirty="0"/>
              <a:t>: Customer's credit rating.</a:t>
            </a:r>
          </a:p>
          <a:p>
            <a:pPr>
              <a:buClr>
                <a:schemeClr val="tx1"/>
              </a:buClr>
            </a:pPr>
            <a:r>
              <a:rPr lang="en-US" sz="2100" b="1" dirty="0"/>
              <a:t>Geography</a:t>
            </a:r>
            <a:r>
              <a:rPr lang="en-US" sz="2100" dirty="0"/>
              <a:t>: Country of the customer (France, Spain, Germany).</a:t>
            </a:r>
          </a:p>
          <a:p>
            <a:pPr>
              <a:buClr>
                <a:schemeClr val="tx1"/>
              </a:buClr>
            </a:pPr>
            <a:r>
              <a:rPr lang="en-US" sz="2100" b="1" dirty="0"/>
              <a:t>Gender</a:t>
            </a:r>
            <a:r>
              <a:rPr lang="en-US" sz="2100" dirty="0"/>
              <a:t>: Male or Female.</a:t>
            </a:r>
          </a:p>
          <a:p>
            <a:pPr>
              <a:buClr>
                <a:schemeClr val="tx1"/>
              </a:buClr>
            </a:pPr>
            <a:r>
              <a:rPr lang="en-US" sz="2100" b="1" dirty="0"/>
              <a:t>Age</a:t>
            </a:r>
            <a:r>
              <a:rPr lang="en-US" sz="2100" dirty="0"/>
              <a:t>: Customer's age.</a:t>
            </a:r>
          </a:p>
          <a:p>
            <a:pPr>
              <a:buClr>
                <a:schemeClr val="tx1"/>
              </a:buClr>
            </a:pPr>
            <a:r>
              <a:rPr lang="en-US" sz="2100" b="1" dirty="0"/>
              <a:t>Tenure</a:t>
            </a:r>
            <a:r>
              <a:rPr lang="en-US" sz="2100" dirty="0"/>
              <a:t>: Number of years the customer has been with the bank.</a:t>
            </a:r>
          </a:p>
          <a:p>
            <a:pPr>
              <a:buClr>
                <a:schemeClr val="tx1"/>
              </a:buClr>
            </a:pPr>
            <a:r>
              <a:rPr lang="en-US" sz="2100" b="1" dirty="0"/>
              <a:t>Balance</a:t>
            </a:r>
            <a:r>
              <a:rPr lang="en-US" sz="2100" dirty="0"/>
              <a:t>: Account balance.</a:t>
            </a:r>
          </a:p>
          <a:p>
            <a:pPr>
              <a:buClr>
                <a:schemeClr val="tx1"/>
              </a:buClr>
            </a:pPr>
            <a:r>
              <a:rPr lang="en-US" sz="2100" b="1" dirty="0"/>
              <a:t>NumOfProducts</a:t>
            </a:r>
            <a:r>
              <a:rPr lang="en-US" sz="2100" dirty="0"/>
              <a:t>: Number of products the customer has with the bank.</a:t>
            </a:r>
          </a:p>
          <a:p>
            <a:pPr>
              <a:buClr>
                <a:schemeClr val="tx1"/>
              </a:buClr>
            </a:pPr>
            <a:r>
              <a:rPr lang="en-US" sz="2100" b="1" dirty="0"/>
              <a:t>HasCrCard</a:t>
            </a:r>
            <a:r>
              <a:rPr lang="en-US" sz="2100" dirty="0"/>
              <a:t>: Whether the customer has a credit card (1 = Yes, 0 = No).</a:t>
            </a:r>
          </a:p>
          <a:p>
            <a:pPr>
              <a:buClr>
                <a:schemeClr val="tx1"/>
              </a:buClr>
            </a:pPr>
            <a:r>
              <a:rPr lang="en-US" sz="2100" b="1" dirty="0"/>
              <a:t>IsActiveMember</a:t>
            </a:r>
            <a:r>
              <a:rPr lang="en-US" sz="2100" dirty="0"/>
              <a:t>: Whether the customer is an active member (1 = Yes, 0 = No).</a:t>
            </a:r>
          </a:p>
          <a:p>
            <a:pPr>
              <a:buClr>
                <a:schemeClr val="tx1"/>
              </a:buClr>
            </a:pPr>
            <a:r>
              <a:rPr lang="en-US" sz="2100" b="1" dirty="0"/>
              <a:t>EstimatedSalary</a:t>
            </a:r>
            <a:r>
              <a:rPr lang="en-US" sz="2100" dirty="0"/>
              <a:t>: Customer's estimated salary.</a:t>
            </a:r>
          </a:p>
          <a:p>
            <a:pPr>
              <a:buClr>
                <a:schemeClr val="tx1"/>
              </a:buClr>
            </a:pPr>
            <a:r>
              <a:rPr lang="en-US" sz="2100" b="1" dirty="0">
                <a:solidFill>
                  <a:srgbClr val="FF0000"/>
                </a:solidFill>
              </a:rPr>
              <a:t>Exited: Target variable (1 = Churned, 0 = Stayed).</a:t>
            </a:r>
          </a:p>
          <a:p>
            <a:endParaRPr lang="en-IN" dirty="0"/>
          </a:p>
        </p:txBody>
      </p:sp>
      <p:sp>
        <p:nvSpPr>
          <p:cNvPr id="7" name="TextBox 6">
            <a:extLst>
              <a:ext uri="{FF2B5EF4-FFF2-40B4-BE49-F238E27FC236}">
                <a16:creationId xmlns:a16="http://schemas.microsoft.com/office/drawing/2014/main" id="{993AB962-1090-4025-9E0D-8AF134FD2785}"/>
              </a:ext>
            </a:extLst>
          </p:cNvPr>
          <p:cNvSpPr txBox="1"/>
          <p:nvPr/>
        </p:nvSpPr>
        <p:spPr>
          <a:xfrm>
            <a:off x="1393580" y="749580"/>
            <a:ext cx="9498711" cy="553998"/>
          </a:xfrm>
          <a:prstGeom prst="rect">
            <a:avLst/>
          </a:prstGeom>
          <a:noFill/>
        </p:spPr>
        <p:txBody>
          <a:bodyPr wrap="square" rtlCol="0">
            <a:spAutoFit/>
          </a:bodyPr>
          <a:lstStyle/>
          <a:p>
            <a:pPr algn="ctr"/>
            <a:r>
              <a:rPr lang="en-GB" sz="3000" b="1" dirty="0"/>
              <a:t>Data Dictionary</a:t>
            </a:r>
            <a:endParaRPr lang="en-IN" sz="3000" b="1" dirty="0"/>
          </a:p>
        </p:txBody>
      </p:sp>
    </p:spTree>
    <p:extLst>
      <p:ext uri="{BB962C8B-B14F-4D97-AF65-F5344CB8AC3E}">
        <p14:creationId xmlns:p14="http://schemas.microsoft.com/office/powerpoint/2010/main" val="2621356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3" name="TextBox 2">
            <a:extLst>
              <a:ext uri="{FF2B5EF4-FFF2-40B4-BE49-F238E27FC236}">
                <a16:creationId xmlns:a16="http://schemas.microsoft.com/office/drawing/2014/main" id="{B944F49D-3868-25EA-380F-BB533B96C801}"/>
              </a:ext>
            </a:extLst>
          </p:cNvPr>
          <p:cNvSpPr txBox="1"/>
          <p:nvPr/>
        </p:nvSpPr>
        <p:spPr>
          <a:xfrm>
            <a:off x="923027" y="735045"/>
            <a:ext cx="10144664" cy="4973349"/>
          </a:xfrm>
          <a:prstGeom prst="rect">
            <a:avLst/>
          </a:prstGeom>
          <a:noFill/>
        </p:spPr>
        <p:txBody>
          <a:bodyPr wrap="square">
            <a:spAutoFit/>
          </a:bodyPr>
          <a:lstStyle/>
          <a:p>
            <a:pPr algn="ctr">
              <a:buNone/>
            </a:pPr>
            <a:r>
              <a:rPr lang="en-US" sz="3000" b="1" dirty="0"/>
              <a:t>Introduction</a:t>
            </a:r>
          </a:p>
          <a:p>
            <a:pPr algn="just">
              <a:buNone/>
            </a:pPr>
            <a:endParaRPr lang="en-US" sz="2000" b="1" dirty="0"/>
          </a:p>
          <a:p>
            <a:pPr marL="342900" indent="-342900" algn="just">
              <a:lnSpc>
                <a:spcPct val="150000"/>
              </a:lnSpc>
              <a:buFont typeface="Wingdings" panose="05000000000000000000" pitchFamily="2" charset="2"/>
              <a:buChar char="v"/>
            </a:pPr>
            <a:r>
              <a:rPr lang="en-US" sz="2000" b="1" dirty="0"/>
              <a:t>Customer churn</a:t>
            </a:r>
            <a:r>
              <a:rPr lang="en-US" sz="2000" dirty="0"/>
              <a:t> refers to when a customer leaves or stops using a service or product.</a:t>
            </a:r>
          </a:p>
          <a:p>
            <a:pPr marL="342900" indent="-342900" algn="just">
              <a:lnSpc>
                <a:spcPct val="150000"/>
              </a:lnSpc>
              <a:buFont typeface="Wingdings" panose="05000000000000000000" pitchFamily="2" charset="2"/>
              <a:buChar char="v"/>
            </a:pPr>
            <a:r>
              <a:rPr lang="en-US" sz="2000" dirty="0"/>
              <a:t>In the banking sector, churn impacts customer base, revenue, and brand trust.</a:t>
            </a:r>
          </a:p>
          <a:p>
            <a:pPr marL="342900" indent="-342900" algn="just">
              <a:lnSpc>
                <a:spcPct val="150000"/>
              </a:lnSpc>
              <a:buFont typeface="Wingdings" panose="05000000000000000000" pitchFamily="2" charset="2"/>
              <a:buChar char="v"/>
            </a:pPr>
            <a:r>
              <a:rPr lang="en-US" sz="2000" dirty="0"/>
              <a:t>Retaining existing customers is more cost-effective than acquiring new ones.</a:t>
            </a:r>
          </a:p>
          <a:p>
            <a:pPr marL="342900" indent="-342900" algn="just">
              <a:lnSpc>
                <a:spcPct val="150000"/>
              </a:lnSpc>
              <a:buFont typeface="Wingdings" panose="05000000000000000000" pitchFamily="2" charset="2"/>
              <a:buChar char="v"/>
            </a:pPr>
            <a:r>
              <a:rPr lang="en-US" sz="2000" dirty="0"/>
              <a:t>Understanding </a:t>
            </a:r>
            <a:r>
              <a:rPr lang="en-US" sz="2000" b="1" dirty="0"/>
              <a:t>why customers leave</a:t>
            </a:r>
            <a:r>
              <a:rPr lang="en-US" sz="2000" dirty="0"/>
              <a:t> helps banks improve services and strategies.</a:t>
            </a:r>
          </a:p>
          <a:p>
            <a:pPr marL="342900" indent="-342900" algn="just">
              <a:lnSpc>
                <a:spcPct val="150000"/>
              </a:lnSpc>
              <a:buFont typeface="Wingdings" panose="05000000000000000000" pitchFamily="2" charset="2"/>
              <a:buChar char="v"/>
            </a:pPr>
            <a:r>
              <a:rPr lang="en-US" sz="2000" dirty="0"/>
              <a:t>With the rise of digital banking, analyzing customer data has become easier and more efficient.</a:t>
            </a:r>
          </a:p>
          <a:p>
            <a:pPr marL="342900" indent="-342900" algn="just">
              <a:lnSpc>
                <a:spcPct val="150000"/>
              </a:lnSpc>
              <a:buFont typeface="Wingdings" panose="05000000000000000000" pitchFamily="2" charset="2"/>
              <a:buChar char="v"/>
            </a:pPr>
            <a:r>
              <a:rPr lang="en-US" sz="2000" b="1" dirty="0"/>
              <a:t>Machine Learning</a:t>
            </a:r>
            <a:r>
              <a:rPr lang="en-US" sz="2000" dirty="0"/>
              <a:t> offers powerful tools to identify patterns and predict future churn behavior.</a:t>
            </a:r>
          </a:p>
          <a:p>
            <a:pPr marL="342900" indent="-342900" algn="just">
              <a:lnSpc>
                <a:spcPct val="150000"/>
              </a:lnSpc>
              <a:buFont typeface="Wingdings" panose="05000000000000000000" pitchFamily="2" charset="2"/>
              <a:buChar char="v"/>
            </a:pPr>
            <a:r>
              <a:rPr lang="en-US" sz="2000" dirty="0"/>
              <a:t>The project uses historical customer data to build a churn prediction model.</a:t>
            </a:r>
          </a:p>
          <a:p>
            <a:pPr marL="342900" indent="-342900" algn="just">
              <a:lnSpc>
                <a:spcPct val="150000"/>
              </a:lnSpc>
              <a:buFont typeface="Wingdings" panose="05000000000000000000" pitchFamily="2" charset="2"/>
              <a:buChar char="v"/>
            </a:pPr>
            <a:r>
              <a:rPr lang="en-US" sz="2000" dirty="0"/>
              <a:t>The outcome supports banks in making </a:t>
            </a:r>
            <a:r>
              <a:rPr lang="en-US" sz="2000" b="1" dirty="0"/>
              <a:t>data-driven decisions</a:t>
            </a:r>
            <a:r>
              <a:rPr lang="en-US" sz="2000" dirty="0"/>
              <a:t> to reduce churn and enhance loyalty</a:t>
            </a:r>
          </a:p>
        </p:txBody>
      </p:sp>
    </p:spTree>
    <p:extLst>
      <p:ext uri="{BB962C8B-B14F-4D97-AF65-F5344CB8AC3E}">
        <p14:creationId xmlns:p14="http://schemas.microsoft.com/office/powerpoint/2010/main" val="136450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8">
            <a:extLst>
              <a:ext uri="{FF2B5EF4-FFF2-40B4-BE49-F238E27FC236}">
                <a16:creationId xmlns:a16="http://schemas.microsoft.com/office/drawing/2014/main" id="{4FC82D9E-64E6-695A-4405-E8553E10C429}"/>
              </a:ext>
            </a:extLst>
          </p:cNvPr>
          <p:cNvGraphicFramePr>
            <a:graphicFrameLocks/>
          </p:cNvGraphicFramePr>
          <p:nvPr>
            <p:extLst>
              <p:ext uri="{D42A27DB-BD31-4B8C-83A1-F6EECF244321}">
                <p14:modId xmlns:p14="http://schemas.microsoft.com/office/powerpoint/2010/main" val="2097383470"/>
              </p:ext>
            </p:extLst>
          </p:nvPr>
        </p:nvGraphicFramePr>
        <p:xfrm>
          <a:off x="1171995" y="1325909"/>
          <a:ext cx="9848010" cy="4683347"/>
        </p:xfrm>
        <a:graphic>
          <a:graphicData uri="http://schemas.openxmlformats.org/drawingml/2006/table">
            <a:tbl>
              <a:tblPr firstRow="1" bandRow="1">
                <a:tableStyleId>{616DA210-FB5B-4158-B5E0-FEB733F419BA}</a:tableStyleId>
              </a:tblPr>
              <a:tblGrid>
                <a:gridCol w="2109006">
                  <a:extLst>
                    <a:ext uri="{9D8B030D-6E8A-4147-A177-3AD203B41FA5}">
                      <a16:colId xmlns:a16="http://schemas.microsoft.com/office/drawing/2014/main" val="412765677"/>
                    </a:ext>
                  </a:extLst>
                </a:gridCol>
                <a:gridCol w="1934751">
                  <a:extLst>
                    <a:ext uri="{9D8B030D-6E8A-4147-A177-3AD203B41FA5}">
                      <a16:colId xmlns:a16="http://schemas.microsoft.com/office/drawing/2014/main" val="1547423817"/>
                    </a:ext>
                  </a:extLst>
                </a:gridCol>
                <a:gridCol w="1934751">
                  <a:extLst>
                    <a:ext uri="{9D8B030D-6E8A-4147-A177-3AD203B41FA5}">
                      <a16:colId xmlns:a16="http://schemas.microsoft.com/office/drawing/2014/main" val="2686806294"/>
                    </a:ext>
                  </a:extLst>
                </a:gridCol>
                <a:gridCol w="1934751">
                  <a:extLst>
                    <a:ext uri="{9D8B030D-6E8A-4147-A177-3AD203B41FA5}">
                      <a16:colId xmlns:a16="http://schemas.microsoft.com/office/drawing/2014/main" val="1998006630"/>
                    </a:ext>
                  </a:extLst>
                </a:gridCol>
                <a:gridCol w="1934751">
                  <a:extLst>
                    <a:ext uri="{9D8B030D-6E8A-4147-A177-3AD203B41FA5}">
                      <a16:colId xmlns:a16="http://schemas.microsoft.com/office/drawing/2014/main" val="2175480709"/>
                    </a:ext>
                  </a:extLst>
                </a:gridCol>
              </a:tblGrid>
              <a:tr h="699181">
                <a:tc>
                  <a:txBody>
                    <a:bodyPr/>
                    <a:lstStyle/>
                    <a:p>
                      <a:pPr algn="ctr" fontAlgn="b"/>
                      <a:r>
                        <a:rPr lang="en-IN" b="1" dirty="0">
                          <a:effectLst/>
                          <a:latin typeface="Times New Roman" panose="02020603050405020304" pitchFamily="18" charset="0"/>
                          <a:cs typeface="Times New Roman" panose="02020603050405020304" pitchFamily="18" charset="0"/>
                        </a:rPr>
                        <a:t>AUTHOR NAME</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PAPER TITLE</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PROPOSED YEAR</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ALGORITHMS USED</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ACCURACY RATE</a:t>
                      </a:r>
                    </a:p>
                  </a:txBody>
                  <a:tcPr anchor="ctr"/>
                </a:tc>
                <a:extLst>
                  <a:ext uri="{0D108BD9-81ED-4DB2-BD59-A6C34878D82A}">
                    <a16:rowId xmlns:a16="http://schemas.microsoft.com/office/drawing/2014/main" val="2828645944"/>
                  </a:ext>
                </a:extLst>
              </a:tr>
              <a:tr h="978233">
                <a:tc>
                  <a:txBody>
                    <a:bodyPr/>
                    <a:lstStyle/>
                    <a:p>
                      <a:pPr marL="0" marR="0" lvl="0" indent="0" algn="ctr" defTabSz="914400" rtl="0" eaLnBrk="1" fontAlgn="base" latinLnBrk="0" hangingPunct="1">
                        <a:lnSpc>
                          <a:spcPct val="100000"/>
                        </a:lnSpc>
                        <a:spcBef>
                          <a:spcPts val="0"/>
                        </a:spcBef>
                        <a:spcAft>
                          <a:spcPts val="0"/>
                        </a:spcAft>
                        <a:buClr>
                          <a:srgbClr val="000000"/>
                        </a:buClr>
                        <a:buSzTx/>
                        <a:buFont typeface="Arial"/>
                        <a:buNone/>
                        <a:tabLst/>
                        <a:defRPr/>
                      </a:pPr>
                      <a:r>
                        <a:rPr lang="en-IN" sz="1800" dirty="0"/>
                        <a:t>Veronica et al</a:t>
                      </a:r>
                      <a:endParaRPr lang="en-US" sz="1800" dirty="0"/>
                    </a:p>
                  </a:txBody>
                  <a:tcPr anchor="ctr"/>
                </a:tc>
                <a:tc>
                  <a:txBody>
                    <a:bodyPr/>
                    <a:lstStyle/>
                    <a:p>
                      <a:pPr marL="0" marR="0" lvl="0" indent="0" algn="ctr" rtl="0">
                        <a:lnSpc>
                          <a:spcPct val="100000"/>
                        </a:lnSpc>
                        <a:spcBef>
                          <a:spcPts val="0"/>
                        </a:spcBef>
                        <a:spcAft>
                          <a:spcPts val="0"/>
                        </a:spcAft>
                        <a:buClr>
                          <a:srgbClr val="000000"/>
                        </a:buClr>
                        <a:buSzPts val="1600"/>
                        <a:buFont typeface="Book Antiqua"/>
                        <a:buNone/>
                      </a:pPr>
                      <a:r>
                        <a:rPr lang="en-US" sz="1800" dirty="0"/>
                        <a:t>Customer Churn Prediction in Telecom Sector</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2018</a:t>
                      </a:r>
                    </a:p>
                  </a:txBody>
                  <a:tcPr anchor="ctr"/>
                </a:tc>
                <a:tc>
                  <a:txBody>
                    <a:bodyPr/>
                    <a:lstStyle/>
                    <a:p>
                      <a:pPr algn="ctr" fontAlgn="base"/>
                      <a:r>
                        <a:rPr lang="en-US" dirty="0">
                          <a:effectLst/>
                          <a:latin typeface="Times New Roman" panose="02020603050405020304" pitchFamily="18" charset="0"/>
                          <a:cs typeface="Times New Roman" panose="02020603050405020304" pitchFamily="18" charset="0"/>
                        </a:rPr>
                        <a:t>DT &amp; NB</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75%</a:t>
                      </a:r>
                    </a:p>
                  </a:txBody>
                  <a:tcPr anchor="ctr"/>
                </a:tc>
                <a:extLst>
                  <a:ext uri="{0D108BD9-81ED-4DB2-BD59-A6C34878D82A}">
                    <a16:rowId xmlns:a16="http://schemas.microsoft.com/office/drawing/2014/main" val="3167131362"/>
                  </a:ext>
                </a:extLst>
              </a:tr>
              <a:tr h="1080017">
                <a:tc>
                  <a:txBody>
                    <a:bodyPr/>
                    <a:lstStyle/>
                    <a:p>
                      <a:pPr marL="0" marR="0" lvl="0" indent="0" algn="ctr" rtl="0">
                        <a:lnSpc>
                          <a:spcPct val="100000"/>
                        </a:lnSpc>
                        <a:spcBef>
                          <a:spcPts val="0"/>
                        </a:spcBef>
                        <a:spcAft>
                          <a:spcPts val="0"/>
                        </a:spcAft>
                        <a:buClr>
                          <a:srgbClr val="000000"/>
                        </a:buClr>
                        <a:buSzPts val="1600"/>
                        <a:buFont typeface="Book Antiqua"/>
                        <a:buNone/>
                      </a:pPr>
                      <a:r>
                        <a:rPr lang="en-IN" sz="1800" dirty="0"/>
                        <a:t>Kumar &amp; Babu</a:t>
                      </a:r>
                      <a:endParaRPr lang="en-US" sz="1800" dirty="0"/>
                    </a:p>
                  </a:txBody>
                  <a:tcPr anchor="ctr"/>
                </a:tc>
                <a:tc>
                  <a:txBody>
                    <a:bodyPr/>
                    <a:lstStyle/>
                    <a:p>
                      <a:pPr marL="0" marR="0" lvl="0" indent="0" algn="ctr" rtl="0">
                        <a:lnSpc>
                          <a:spcPct val="100000"/>
                        </a:lnSpc>
                        <a:spcBef>
                          <a:spcPts val="0"/>
                        </a:spcBef>
                        <a:spcAft>
                          <a:spcPts val="0"/>
                        </a:spcAft>
                        <a:buClr>
                          <a:srgbClr val="000000"/>
                        </a:buClr>
                        <a:buSzPts val="1600"/>
                        <a:buFont typeface="Book Antiqua"/>
                        <a:buNone/>
                      </a:pPr>
                      <a:r>
                        <a:rPr lang="en-US" sz="1800" dirty="0"/>
                        <a:t>Predictive Analytics for Bank Churn</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2019</a:t>
                      </a:r>
                    </a:p>
                  </a:txBody>
                  <a:tcPr anchor="ctr"/>
                </a:tc>
                <a:tc>
                  <a:txBody>
                    <a:bodyPr/>
                    <a:lstStyle/>
                    <a:p>
                      <a:pPr algn="ctr" fontAlgn="base"/>
                      <a:r>
                        <a:rPr lang="en-US" dirty="0">
                          <a:effectLst/>
                          <a:latin typeface="Times New Roman" panose="02020603050405020304" pitchFamily="18" charset="0"/>
                          <a:cs typeface="Times New Roman" panose="02020603050405020304" pitchFamily="18" charset="0"/>
                        </a:rPr>
                        <a:t>L</a:t>
                      </a:r>
                      <a:r>
                        <a:rPr lang="en-IN" dirty="0">
                          <a:effectLst/>
                          <a:latin typeface="Times New Roman" panose="02020603050405020304" pitchFamily="18" charset="0"/>
                          <a:cs typeface="Times New Roman" panose="02020603050405020304" pitchFamily="18" charset="0"/>
                        </a:rPr>
                        <a:t>R</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73%</a:t>
                      </a:r>
                    </a:p>
                  </a:txBody>
                  <a:tcPr anchor="ctr"/>
                </a:tc>
                <a:extLst>
                  <a:ext uri="{0D108BD9-81ED-4DB2-BD59-A6C34878D82A}">
                    <a16:rowId xmlns:a16="http://schemas.microsoft.com/office/drawing/2014/main" val="4049488630"/>
                  </a:ext>
                </a:extLst>
              </a:tr>
              <a:tr h="998830">
                <a:tc>
                  <a:txBody>
                    <a:bodyPr/>
                    <a:lstStyle/>
                    <a:p>
                      <a:pPr marL="0" marR="0" lvl="0" indent="0" algn="ctr" rtl="0">
                        <a:lnSpc>
                          <a:spcPct val="100000"/>
                        </a:lnSpc>
                        <a:spcBef>
                          <a:spcPts val="0"/>
                        </a:spcBef>
                        <a:spcAft>
                          <a:spcPts val="0"/>
                        </a:spcAft>
                        <a:buClr>
                          <a:srgbClr val="000000"/>
                        </a:buClr>
                        <a:buSzPts val="1400"/>
                        <a:buFont typeface="Book Antiqua"/>
                        <a:buNone/>
                      </a:pPr>
                      <a:r>
                        <a:rPr lang="en-IN" sz="1800" dirty="0"/>
                        <a:t>Fatima et al</a:t>
                      </a:r>
                      <a:endParaRPr lang="en-US" sz="1800" dirty="0"/>
                    </a:p>
                  </a:txBody>
                  <a:tcPr anchor="ctr"/>
                </a:tc>
                <a:tc>
                  <a:txBody>
                    <a:bodyPr/>
                    <a:lstStyle/>
                    <a:p>
                      <a:pPr marL="0" marR="0" lvl="0" indent="0" algn="ctr" rtl="0">
                        <a:lnSpc>
                          <a:spcPct val="100000"/>
                        </a:lnSpc>
                        <a:spcBef>
                          <a:spcPts val="0"/>
                        </a:spcBef>
                        <a:spcAft>
                          <a:spcPts val="0"/>
                        </a:spcAft>
                        <a:buClr>
                          <a:srgbClr val="000000"/>
                        </a:buClr>
                        <a:buSzPts val="1400"/>
                        <a:buFont typeface="Book Antiqua"/>
                        <a:buNone/>
                      </a:pPr>
                      <a:r>
                        <a:rPr lang="en-US" sz="1800" dirty="0"/>
                        <a:t>ML Approach to Customer Churn Detection</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2020</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KNN &amp;SVM</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78%</a:t>
                      </a:r>
                    </a:p>
                  </a:txBody>
                  <a:tcPr anchor="ctr"/>
                </a:tc>
                <a:extLst>
                  <a:ext uri="{0D108BD9-81ED-4DB2-BD59-A6C34878D82A}">
                    <a16:rowId xmlns:a16="http://schemas.microsoft.com/office/drawing/2014/main" val="3592334697"/>
                  </a:ext>
                </a:extLst>
              </a:tr>
              <a:tr h="927086">
                <a:tc>
                  <a:txBody>
                    <a:bodyPr/>
                    <a:lstStyle/>
                    <a:p>
                      <a:pPr marL="0" marR="0" lvl="0" indent="0" algn="ctr" rtl="0">
                        <a:lnSpc>
                          <a:spcPct val="100000"/>
                        </a:lnSpc>
                        <a:spcBef>
                          <a:spcPts val="0"/>
                        </a:spcBef>
                        <a:spcAft>
                          <a:spcPts val="0"/>
                        </a:spcAft>
                        <a:buClr>
                          <a:srgbClr val="000000"/>
                        </a:buClr>
                        <a:buSzPts val="1600"/>
                        <a:buFont typeface="Book Antiqua"/>
                        <a:buNone/>
                      </a:pPr>
                      <a:r>
                        <a:rPr lang="en-IN" sz="1800" dirty="0"/>
                        <a:t>Nisha &amp; Thomas</a:t>
                      </a:r>
                      <a:endParaRPr lang="en-US" sz="1800" dirty="0"/>
                    </a:p>
                  </a:txBody>
                  <a:tcPr anchor="ctr"/>
                </a:tc>
                <a:tc>
                  <a:txBody>
                    <a:bodyPr/>
                    <a:lstStyle/>
                    <a:p>
                      <a:pPr marL="0" marR="0" lvl="0" indent="0" algn="ctr" rtl="0">
                        <a:lnSpc>
                          <a:spcPct val="100000"/>
                        </a:lnSpc>
                        <a:spcBef>
                          <a:spcPts val="0"/>
                        </a:spcBef>
                        <a:spcAft>
                          <a:spcPts val="0"/>
                        </a:spcAft>
                        <a:buClr>
                          <a:srgbClr val="000000"/>
                        </a:buClr>
                        <a:buSzPts val="1600"/>
                        <a:buFont typeface="Book Antiqua"/>
                        <a:buNone/>
                      </a:pPr>
                      <a:r>
                        <a:rPr lang="en-US" sz="1800" dirty="0"/>
                        <a:t>Enhanced Churn Prediction using XGBoost</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2022</a:t>
                      </a:r>
                    </a:p>
                  </a:txBody>
                  <a:tcPr anchor="ctr"/>
                </a:tc>
                <a:tc>
                  <a:txBody>
                    <a:bodyPr/>
                    <a:lstStyle/>
                    <a:p>
                      <a:pPr algn="ctr" fontAlgn="base"/>
                      <a:r>
                        <a:rPr lang="en-US" dirty="0">
                          <a:effectLst/>
                          <a:latin typeface="Times New Roman" panose="02020603050405020304" pitchFamily="18" charset="0"/>
                          <a:cs typeface="Times New Roman" panose="02020603050405020304" pitchFamily="18" charset="0"/>
                        </a:rPr>
                        <a:t>XGB</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85%</a:t>
                      </a:r>
                    </a:p>
                  </a:txBody>
                  <a:tcPr anchor="ctr"/>
                </a:tc>
                <a:extLst>
                  <a:ext uri="{0D108BD9-81ED-4DB2-BD59-A6C34878D82A}">
                    <a16:rowId xmlns:a16="http://schemas.microsoft.com/office/drawing/2014/main" val="803143199"/>
                  </a:ext>
                </a:extLst>
              </a:tr>
            </a:tbl>
          </a:graphicData>
        </a:graphic>
      </p:graphicFrame>
      <p:sp>
        <p:nvSpPr>
          <p:cNvPr id="4" name="TextBox 3">
            <a:extLst>
              <a:ext uri="{FF2B5EF4-FFF2-40B4-BE49-F238E27FC236}">
                <a16:creationId xmlns:a16="http://schemas.microsoft.com/office/drawing/2014/main" id="{E54A27E5-1BE6-22D1-3DD9-0092A72BCE17}"/>
              </a:ext>
            </a:extLst>
          </p:cNvPr>
          <p:cNvSpPr txBox="1"/>
          <p:nvPr/>
        </p:nvSpPr>
        <p:spPr>
          <a:xfrm>
            <a:off x="1193800" y="783090"/>
            <a:ext cx="9513121"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LITERATURE REVIEW</a:t>
            </a:r>
            <a:endParaRPr lang="en-IN" sz="2000" dirty="0"/>
          </a:p>
        </p:txBody>
      </p:sp>
    </p:spTree>
    <p:extLst>
      <p:ext uri="{BB962C8B-B14F-4D97-AF65-F5344CB8AC3E}">
        <p14:creationId xmlns:p14="http://schemas.microsoft.com/office/powerpoint/2010/main" val="64581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3A1F0-E1F1-0156-E76D-00ECCE930543}"/>
              </a:ext>
            </a:extLst>
          </p:cNvPr>
          <p:cNvSpPr txBox="1"/>
          <p:nvPr/>
        </p:nvSpPr>
        <p:spPr>
          <a:xfrm>
            <a:off x="888520" y="1811546"/>
            <a:ext cx="10127411" cy="2723823"/>
          </a:xfrm>
          <a:prstGeom prst="rect">
            <a:avLst/>
          </a:prstGeom>
          <a:noFill/>
        </p:spPr>
        <p:txBody>
          <a:bodyPr wrap="square">
            <a:spAutoFit/>
          </a:bodyPr>
          <a:lstStyle/>
          <a:p>
            <a:pPr lvl="0" algn="ctr" rtl="0">
              <a:lnSpc>
                <a:spcPct val="90000"/>
              </a:lnSpc>
              <a:spcBef>
                <a:spcPts val="0"/>
              </a:spcBef>
              <a:spcAft>
                <a:spcPts val="0"/>
              </a:spcAft>
              <a:buClr>
                <a:schemeClr val="dk1"/>
              </a:buClr>
              <a:buSzPts val="2000"/>
            </a:pPr>
            <a:r>
              <a:rPr lang="en-US" sz="3000" b="1" dirty="0">
                <a:latin typeface="Times New Roman"/>
                <a:ea typeface="Times New Roman"/>
                <a:cs typeface="Times New Roman"/>
                <a:sym typeface="Times New Roman"/>
              </a:rPr>
              <a:t>Existing Methods </a:t>
            </a:r>
            <a:br>
              <a:rPr lang="en-US" sz="1800" b="1" dirty="0">
                <a:latin typeface="Times New Roman"/>
                <a:ea typeface="Times New Roman"/>
                <a:cs typeface="Times New Roman"/>
                <a:sym typeface="Times New Roman"/>
              </a:rPr>
            </a:br>
            <a:endParaRPr lang="en-US" sz="1800" dirty="0">
              <a:latin typeface="Times New Roman" pitchFamily="18" charset="0"/>
              <a:cs typeface="Times New Roman" pitchFamily="18" charset="0"/>
            </a:endParaRP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r>
              <a:rPr lang="en-US" sz="2000" dirty="0">
                <a:latin typeface="Times New Roman" panose="02020603050405020304" pitchFamily="18" charset="0"/>
                <a:cs typeface="Times New Roman" pitchFamily="18" charset="0"/>
              </a:rPr>
              <a:t>Previously, Authors are used Decision Tree, Logistic Regression and XGBoost, it was found a low accuracy level. This is chances to predict a wrong output. </a:t>
            </a: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endParaRPr lang="en-US" sz="2000" dirty="0">
              <a:latin typeface="Times New Roman" pitchFamily="18" charset="0"/>
              <a:cs typeface="Times New Roman" pitchFamily="18" charset="0"/>
            </a:endParaRP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r>
              <a:rPr lang="en-US" sz="2000" dirty="0">
                <a:latin typeface="Times New Roman" pitchFamily="18" charset="0"/>
                <a:cs typeface="Times New Roman" pitchFamily="18" charset="0"/>
              </a:rPr>
              <a:t>So, we trained the dataset and use the different types of machine learning algorithm.</a:t>
            </a: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endParaRPr lang="en-US" sz="2000" dirty="0">
              <a:latin typeface="Times New Roman" pitchFamily="18" charset="0"/>
              <a:cs typeface="Times New Roman" pitchFamily="18" charset="0"/>
            </a:endParaRP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r>
              <a:rPr lang="en-US" sz="2000" dirty="0">
                <a:latin typeface="Times New Roman" pitchFamily="18" charset="0"/>
                <a:cs typeface="Times New Roman" pitchFamily="18" charset="0"/>
              </a:rPr>
              <a:t>They are Random Forest and XGBoost. And I am going to use SMOTE technique for high accuracy level. </a:t>
            </a:r>
          </a:p>
        </p:txBody>
      </p:sp>
    </p:spTree>
    <p:extLst>
      <p:ext uri="{BB962C8B-B14F-4D97-AF65-F5344CB8AC3E}">
        <p14:creationId xmlns:p14="http://schemas.microsoft.com/office/powerpoint/2010/main" val="1095445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6FC3F4-B4C8-D8BD-E3D9-00C09C3BF4B5}"/>
              </a:ext>
            </a:extLst>
          </p:cNvPr>
          <p:cNvSpPr>
            <a:spLocks noGrp="1"/>
          </p:cNvSpPr>
          <p:nvPr>
            <p:ph type="title"/>
          </p:nvPr>
        </p:nvSpPr>
        <p:spPr>
          <a:xfrm>
            <a:off x="1295401" y="1413452"/>
            <a:ext cx="9601196" cy="1303867"/>
          </a:xfrm>
        </p:spPr>
        <p:txBody>
          <a:bodyPr>
            <a:normAutofit/>
          </a:bodyPr>
          <a:lstStyle/>
          <a:p>
            <a:r>
              <a:rPr lang="en-US" sz="3000" b="1" dirty="0">
                <a:latin typeface="Times New Roman" panose="02020603050405020304" pitchFamily="18" charset="0"/>
                <a:cs typeface="Times New Roman" panose="02020603050405020304" pitchFamily="18" charset="0"/>
              </a:rPr>
              <a:t>Module Description</a:t>
            </a:r>
            <a:endParaRPr lang="en-IN" sz="3000" dirty="0"/>
          </a:p>
        </p:txBody>
      </p:sp>
      <p:sp>
        <p:nvSpPr>
          <p:cNvPr id="5" name="Content Placeholder 4">
            <a:extLst>
              <a:ext uri="{FF2B5EF4-FFF2-40B4-BE49-F238E27FC236}">
                <a16:creationId xmlns:a16="http://schemas.microsoft.com/office/drawing/2014/main" id="{77DF041C-BBE7-000D-A815-4B3E5D9EA3C7}"/>
              </a:ext>
            </a:extLst>
          </p:cNvPr>
          <p:cNvSpPr>
            <a:spLocks noGrp="1"/>
          </p:cNvSpPr>
          <p:nvPr>
            <p:ph idx="1"/>
          </p:nvPr>
        </p:nvSpPr>
        <p:spPr>
          <a:xfrm>
            <a:off x="4149305" y="2600065"/>
            <a:ext cx="6402235" cy="3318936"/>
          </a:xfrm>
        </p:spPr>
        <p:txBody>
          <a:bodyPr/>
          <a:lstStyle/>
          <a:p>
            <a:pPr>
              <a:buClr>
                <a:schemeClr val="tx1"/>
              </a:buClr>
              <a:buFont typeface="Wingdings" panose="05000000000000000000" pitchFamily="2" charset="2"/>
              <a:buChar char="ü"/>
            </a:pPr>
            <a:r>
              <a:rPr lang="en-US" dirty="0"/>
              <a:t>Data Preprocessing &amp; EDA</a:t>
            </a:r>
          </a:p>
          <a:p>
            <a:pPr>
              <a:buClr>
                <a:schemeClr val="tx1"/>
              </a:buClr>
              <a:buFont typeface="Wingdings" panose="05000000000000000000" pitchFamily="2" charset="2"/>
              <a:buChar char="ü"/>
            </a:pPr>
            <a:r>
              <a:rPr lang="en-US" dirty="0"/>
              <a:t>Model Building</a:t>
            </a:r>
          </a:p>
          <a:p>
            <a:pPr>
              <a:buClr>
                <a:schemeClr val="tx1"/>
              </a:buClr>
              <a:buFont typeface="Wingdings" panose="05000000000000000000" pitchFamily="2" charset="2"/>
              <a:buChar char="ü"/>
            </a:pPr>
            <a:r>
              <a:rPr lang="en-US" dirty="0"/>
              <a:t>Handled Imbalanced Data</a:t>
            </a:r>
          </a:p>
          <a:p>
            <a:pPr>
              <a:buClr>
                <a:schemeClr val="tx1"/>
              </a:buClr>
              <a:buFont typeface="Wingdings" panose="05000000000000000000" pitchFamily="2" charset="2"/>
              <a:buChar char="ü"/>
            </a:pPr>
            <a:r>
              <a:rPr lang="en-US" dirty="0"/>
              <a:t>Model Evaluation</a:t>
            </a:r>
          </a:p>
          <a:p>
            <a:pPr>
              <a:buClr>
                <a:schemeClr val="tx1"/>
              </a:buClr>
              <a:buFont typeface="Wingdings" panose="05000000000000000000" pitchFamily="2" charset="2"/>
              <a:buChar char="ü"/>
            </a:pPr>
            <a:r>
              <a:rPr lang="en-US" dirty="0"/>
              <a:t>Future Work</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958671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FCFEBC-AF45-E7A1-9BE0-9163866881E0}"/>
              </a:ext>
            </a:extLst>
          </p:cNvPr>
          <p:cNvSpPr txBox="1"/>
          <p:nvPr/>
        </p:nvSpPr>
        <p:spPr>
          <a:xfrm>
            <a:off x="1174630" y="1809011"/>
            <a:ext cx="9842740" cy="3170099"/>
          </a:xfrm>
          <a:prstGeom prst="rect">
            <a:avLst/>
          </a:prstGeom>
          <a:noFill/>
        </p:spPr>
        <p:txBody>
          <a:bodyPr wrap="square">
            <a:spAutoFit/>
          </a:bodyPr>
          <a:lstStyle/>
          <a:p>
            <a:pPr algn="ctr">
              <a:buNone/>
            </a:pPr>
            <a:r>
              <a:rPr lang="en-US" sz="3000" b="1" dirty="0"/>
              <a:t>Data Preprocessing &amp; EDA</a:t>
            </a:r>
          </a:p>
          <a:p>
            <a:pPr marL="457200" indent="-457200" algn="ctr">
              <a:buFont typeface="Wingdings" panose="05000000000000000000" pitchFamily="2" charset="2"/>
              <a:buChar char="v"/>
            </a:pPr>
            <a:endParaRPr lang="en-US" sz="3000" b="1" dirty="0"/>
          </a:p>
          <a:p>
            <a:pPr marL="342900" indent="-342900">
              <a:buFont typeface="Wingdings" panose="05000000000000000000" pitchFamily="2" charset="2"/>
              <a:buChar char="v"/>
            </a:pPr>
            <a:r>
              <a:rPr lang="en-US" sz="2000" dirty="0"/>
              <a:t>First, we checked the dataset for any missing or null values and cleaned them.</a:t>
            </a:r>
          </a:p>
          <a:p>
            <a:pPr marL="342900" indent="-342900">
              <a:buFont typeface="Wingdings" panose="05000000000000000000" pitchFamily="2" charset="2"/>
              <a:buChar char="v"/>
            </a:pPr>
            <a:r>
              <a:rPr lang="en-US" sz="2000" dirty="0"/>
              <a:t>Encoded categorical columns like </a:t>
            </a:r>
            <a:r>
              <a:rPr lang="en-US" sz="2000" b="1" dirty="0"/>
              <a:t>Gender</a:t>
            </a:r>
            <a:r>
              <a:rPr lang="en-US" sz="2000" dirty="0"/>
              <a:t> and </a:t>
            </a:r>
            <a:r>
              <a:rPr lang="en-US" sz="2000" b="1" dirty="0"/>
              <a:t>Geography</a:t>
            </a:r>
            <a:r>
              <a:rPr lang="en-US" sz="2000" dirty="0"/>
              <a:t> using Label Encoding.</a:t>
            </a:r>
          </a:p>
          <a:p>
            <a:pPr marL="342900" indent="-342900">
              <a:buFont typeface="Wingdings" panose="05000000000000000000" pitchFamily="2" charset="2"/>
              <a:buChar char="v"/>
            </a:pPr>
            <a:r>
              <a:rPr lang="en-US" sz="2000" dirty="0"/>
              <a:t>Ensured the data was clean, balanced, and properly formatted before feeding it to ML models.</a:t>
            </a:r>
          </a:p>
          <a:p>
            <a:pPr marL="342900" indent="-342900">
              <a:buFont typeface="Wingdings" panose="05000000000000000000" pitchFamily="2" charset="2"/>
              <a:buChar char="v"/>
            </a:pPr>
            <a:r>
              <a:rPr lang="en-US" sz="2000" dirty="0"/>
              <a:t>Performed </a:t>
            </a:r>
            <a:r>
              <a:rPr lang="en-US" sz="2000" b="1" dirty="0"/>
              <a:t>Exploratory Data Analysis (EDA)</a:t>
            </a:r>
            <a:r>
              <a:rPr lang="en-US" sz="2000" dirty="0"/>
              <a:t> using:</a:t>
            </a:r>
          </a:p>
          <a:p>
            <a:pPr marL="1257300" lvl="2" indent="-342900">
              <a:buFont typeface="Courier New" panose="02070309020205020404" pitchFamily="49" charset="0"/>
              <a:buChar char="o"/>
            </a:pPr>
            <a:r>
              <a:rPr lang="en-US" sz="2000" b="1" dirty="0"/>
              <a:t>CountPlot </a:t>
            </a:r>
            <a:r>
              <a:rPr lang="en-US" sz="2000" dirty="0"/>
              <a:t>to check count of Geography vs Exited and Gender vs Exited.</a:t>
            </a:r>
            <a:endParaRPr lang="en-US" sz="2000" b="1" dirty="0"/>
          </a:p>
          <a:p>
            <a:pPr marL="1257300" lvl="2" indent="-342900">
              <a:buFont typeface="Courier New" panose="02070309020205020404" pitchFamily="49" charset="0"/>
              <a:buChar char="o"/>
            </a:pPr>
            <a:r>
              <a:rPr lang="en-US" sz="2000" b="1" dirty="0"/>
              <a:t>Boxplot</a:t>
            </a:r>
            <a:r>
              <a:rPr lang="en-US" sz="2000" dirty="0"/>
              <a:t> to detect outliers in features like Balance and Age.</a:t>
            </a:r>
          </a:p>
          <a:p>
            <a:pPr marL="1257300" lvl="2" indent="-342900">
              <a:buFont typeface="Courier New" panose="02070309020205020404" pitchFamily="49" charset="0"/>
              <a:buChar char="o"/>
            </a:pPr>
            <a:r>
              <a:rPr lang="en-US" sz="2000" b="1" dirty="0"/>
              <a:t>Heatmap</a:t>
            </a:r>
            <a:r>
              <a:rPr lang="en-US" sz="2000" dirty="0"/>
              <a:t> to check correlation between features.</a:t>
            </a:r>
          </a:p>
        </p:txBody>
      </p:sp>
    </p:spTree>
    <p:extLst>
      <p:ext uri="{BB962C8B-B14F-4D97-AF65-F5344CB8AC3E}">
        <p14:creationId xmlns:p14="http://schemas.microsoft.com/office/powerpoint/2010/main" val="1646532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DE9266-3A7B-B3F1-B00D-062E9BA2D081}"/>
              </a:ext>
            </a:extLst>
          </p:cNvPr>
          <p:cNvSpPr txBox="1"/>
          <p:nvPr/>
        </p:nvSpPr>
        <p:spPr>
          <a:xfrm>
            <a:off x="1071113" y="1852576"/>
            <a:ext cx="10049774" cy="3170099"/>
          </a:xfrm>
          <a:prstGeom prst="rect">
            <a:avLst/>
          </a:prstGeom>
          <a:noFill/>
        </p:spPr>
        <p:txBody>
          <a:bodyPr wrap="square">
            <a:spAutoFit/>
          </a:bodyPr>
          <a:lstStyle/>
          <a:p>
            <a:pPr algn="ctr">
              <a:buNone/>
            </a:pPr>
            <a:r>
              <a:rPr lang="en-US" sz="3000" b="1" dirty="0"/>
              <a:t>Model Building</a:t>
            </a:r>
          </a:p>
          <a:p>
            <a:pPr algn="ctr">
              <a:buNone/>
            </a:pPr>
            <a:endParaRPr lang="en-US" sz="3000" b="1" dirty="0"/>
          </a:p>
          <a:p>
            <a:pPr marL="285750" indent="-285750">
              <a:buFont typeface="Wingdings" panose="05000000000000000000" pitchFamily="2" charset="2"/>
              <a:buChar char="v"/>
            </a:pPr>
            <a:r>
              <a:rPr lang="en-US" sz="2000" dirty="0"/>
              <a:t>We built different machine learning models like Logistic Regression, Decision Tree, Random Forest, and XGBoost.</a:t>
            </a:r>
          </a:p>
          <a:p>
            <a:pPr marL="285750" indent="-285750">
              <a:buFont typeface="Wingdings" panose="05000000000000000000" pitchFamily="2" charset="2"/>
              <a:buChar char="v"/>
            </a:pPr>
            <a:r>
              <a:rPr lang="en-US" sz="2000" dirty="0"/>
              <a:t>These models were chosen based on their popularity and effectiveness in classification problems.</a:t>
            </a:r>
          </a:p>
          <a:p>
            <a:pPr marL="285750" indent="-285750">
              <a:buFont typeface="Wingdings" panose="05000000000000000000" pitchFamily="2" charset="2"/>
              <a:buChar char="v"/>
            </a:pPr>
            <a:r>
              <a:rPr lang="en-US" sz="2000" dirty="0"/>
              <a:t>Each model was trained using the preprocessed dataset.</a:t>
            </a:r>
          </a:p>
          <a:p>
            <a:pPr marL="285750" indent="-285750">
              <a:buFont typeface="Wingdings" panose="05000000000000000000" pitchFamily="2" charset="2"/>
              <a:buChar char="v"/>
            </a:pPr>
            <a:r>
              <a:rPr lang="en-US" sz="2000" dirty="0"/>
              <a:t>We used </a:t>
            </a:r>
            <a:r>
              <a:rPr lang="en-US" sz="2000" b="1" dirty="0"/>
              <a:t>train-test split</a:t>
            </a:r>
            <a:r>
              <a:rPr lang="en-US" sz="2000" dirty="0"/>
              <a:t> to avoid overfitting and ensure fair evaluation.</a:t>
            </a:r>
          </a:p>
          <a:p>
            <a:pPr marL="285750" indent="-285750">
              <a:buFont typeface="Wingdings" panose="05000000000000000000" pitchFamily="2" charset="2"/>
              <a:buChar char="v"/>
            </a:pPr>
            <a:r>
              <a:rPr lang="en-US" sz="2000" dirty="0"/>
              <a:t>We compared the performance of each model using evaluation metrics. </a:t>
            </a:r>
          </a:p>
          <a:p>
            <a:pPr marL="285750" indent="-285750">
              <a:buFont typeface="Wingdings" panose="05000000000000000000" pitchFamily="2" charset="2"/>
              <a:buChar char="v"/>
            </a:pPr>
            <a:r>
              <a:rPr lang="en-US" sz="2000" b="1" dirty="0"/>
              <a:t>Random Forest </a:t>
            </a:r>
            <a:r>
              <a:rPr lang="en-US" sz="2000" dirty="0"/>
              <a:t>gave the best result among all the models tested.</a:t>
            </a:r>
          </a:p>
        </p:txBody>
      </p:sp>
    </p:spTree>
    <p:extLst>
      <p:ext uri="{BB962C8B-B14F-4D97-AF65-F5344CB8AC3E}">
        <p14:creationId xmlns:p14="http://schemas.microsoft.com/office/powerpoint/2010/main" val="137500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73382F-17F4-61C6-7B7E-D550AB4F79DD}"/>
              </a:ext>
            </a:extLst>
          </p:cNvPr>
          <p:cNvSpPr txBox="1"/>
          <p:nvPr/>
        </p:nvSpPr>
        <p:spPr>
          <a:xfrm>
            <a:off x="1130059" y="1777041"/>
            <a:ext cx="10084281" cy="2246769"/>
          </a:xfrm>
          <a:prstGeom prst="rect">
            <a:avLst/>
          </a:prstGeom>
          <a:noFill/>
        </p:spPr>
        <p:txBody>
          <a:bodyPr wrap="square">
            <a:spAutoFit/>
          </a:bodyPr>
          <a:lstStyle/>
          <a:p>
            <a:pPr algn="ctr">
              <a:buNone/>
            </a:pPr>
            <a:r>
              <a:rPr lang="en-US" sz="3000" b="1" dirty="0"/>
              <a:t>Handling Imbalanced Data </a:t>
            </a:r>
          </a:p>
          <a:p>
            <a:pPr algn="ctr">
              <a:buNone/>
            </a:pPr>
            <a:endParaRPr lang="en-US" sz="3000" b="1" dirty="0"/>
          </a:p>
          <a:p>
            <a:pPr marL="285750" indent="-285750">
              <a:buFont typeface="Wingdings" panose="05000000000000000000" pitchFamily="2" charset="2"/>
              <a:buChar char="v"/>
            </a:pPr>
            <a:r>
              <a:rPr lang="en-US" sz="2000" dirty="0"/>
              <a:t>The original dataset had more non-churn customers compared to churned ones.</a:t>
            </a:r>
          </a:p>
          <a:p>
            <a:pPr marL="285750" indent="-285750">
              <a:buFont typeface="Wingdings" panose="05000000000000000000" pitchFamily="2" charset="2"/>
              <a:buChar char="v"/>
            </a:pPr>
            <a:r>
              <a:rPr lang="en-US" sz="2000" dirty="0"/>
              <a:t>We used </a:t>
            </a:r>
            <a:r>
              <a:rPr lang="en-US" sz="2000" b="1" dirty="0"/>
              <a:t>SMOTE</a:t>
            </a:r>
            <a:r>
              <a:rPr lang="en-US" sz="2000" dirty="0"/>
              <a:t> to create synthetic samples of the minority class (churn = 1).</a:t>
            </a:r>
          </a:p>
          <a:p>
            <a:pPr marL="285750" indent="-285750">
              <a:buFont typeface="Wingdings" panose="05000000000000000000" pitchFamily="2" charset="2"/>
              <a:buChar char="v"/>
            </a:pPr>
            <a:r>
              <a:rPr lang="en-US" sz="2000" dirty="0"/>
              <a:t>This helped balance the dataset and avoid bias in prediction.</a:t>
            </a:r>
          </a:p>
          <a:p>
            <a:pPr marL="285750" indent="-285750">
              <a:buFont typeface="Wingdings" panose="05000000000000000000" pitchFamily="2" charset="2"/>
              <a:buChar char="v"/>
            </a:pPr>
            <a:r>
              <a:rPr lang="en-US" sz="2000" dirty="0"/>
              <a:t>After applying SMOTE, the model performed better in identifying churned customers.</a:t>
            </a:r>
          </a:p>
        </p:txBody>
      </p:sp>
    </p:spTree>
    <p:extLst>
      <p:ext uri="{BB962C8B-B14F-4D97-AF65-F5344CB8AC3E}">
        <p14:creationId xmlns:p14="http://schemas.microsoft.com/office/powerpoint/2010/main" val="1603583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AC48B3-4A4E-0DEC-BC4B-B0FA6518211D}"/>
              </a:ext>
            </a:extLst>
          </p:cNvPr>
          <p:cNvSpPr txBox="1"/>
          <p:nvPr/>
        </p:nvSpPr>
        <p:spPr>
          <a:xfrm>
            <a:off x="993475" y="1777042"/>
            <a:ext cx="10205049" cy="2554545"/>
          </a:xfrm>
          <a:prstGeom prst="rect">
            <a:avLst/>
          </a:prstGeom>
          <a:noFill/>
        </p:spPr>
        <p:txBody>
          <a:bodyPr wrap="square">
            <a:spAutoFit/>
          </a:bodyPr>
          <a:lstStyle/>
          <a:p>
            <a:pPr algn="ctr">
              <a:buNone/>
            </a:pPr>
            <a:r>
              <a:rPr lang="en-US" sz="3000" b="1" dirty="0"/>
              <a:t>Model Evaluation</a:t>
            </a:r>
          </a:p>
          <a:p>
            <a:pPr algn="ctr">
              <a:buNone/>
            </a:pPr>
            <a:endParaRPr lang="en-US" sz="3000" b="1" dirty="0"/>
          </a:p>
          <a:p>
            <a:pPr marL="342900" indent="-342900">
              <a:buFont typeface="Wingdings" panose="05000000000000000000" pitchFamily="2" charset="2"/>
              <a:buChar char="v"/>
            </a:pPr>
            <a:r>
              <a:rPr lang="en-US" sz="2000" dirty="0"/>
              <a:t>We used accuracy, precision, recall, and F1-score to evaluate model performance.</a:t>
            </a:r>
          </a:p>
          <a:p>
            <a:pPr marL="342900" indent="-342900">
              <a:buFont typeface="Wingdings" panose="05000000000000000000" pitchFamily="2" charset="2"/>
              <a:buChar char="v"/>
            </a:pPr>
            <a:r>
              <a:rPr lang="en-US" sz="2000" dirty="0"/>
              <a:t>The confusion matrix helped us visualize how many predictions were correct and wrong.</a:t>
            </a:r>
          </a:p>
          <a:p>
            <a:pPr marL="342900" indent="-342900">
              <a:buFont typeface="Wingdings" panose="05000000000000000000" pitchFamily="2" charset="2"/>
              <a:buChar char="v"/>
            </a:pPr>
            <a:r>
              <a:rPr lang="en-US" sz="2000" dirty="0"/>
              <a:t> ROC curve and AUC score were used to measure how well the model distinguished churned vs non-churned customers.</a:t>
            </a:r>
          </a:p>
          <a:p>
            <a:pPr marL="342900" indent="-342900">
              <a:buFont typeface="Wingdings" panose="05000000000000000000" pitchFamily="2" charset="2"/>
              <a:buChar char="v"/>
            </a:pPr>
            <a:r>
              <a:rPr lang="en-US" sz="2000" b="1" dirty="0"/>
              <a:t>Random Forest</a:t>
            </a:r>
            <a:r>
              <a:rPr lang="en-US" sz="2000" dirty="0"/>
              <a:t> had the highest accuracy and best balance of precision and recall.</a:t>
            </a:r>
          </a:p>
        </p:txBody>
      </p:sp>
    </p:spTree>
    <p:extLst>
      <p:ext uri="{BB962C8B-B14F-4D97-AF65-F5344CB8AC3E}">
        <p14:creationId xmlns:p14="http://schemas.microsoft.com/office/powerpoint/2010/main" val="927658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33774-C269-FA81-DC10-0ACBA612FEBD}"/>
              </a:ext>
            </a:extLst>
          </p:cNvPr>
          <p:cNvSpPr txBox="1"/>
          <p:nvPr/>
        </p:nvSpPr>
        <p:spPr>
          <a:xfrm>
            <a:off x="967596" y="1794295"/>
            <a:ext cx="10256807" cy="2246769"/>
          </a:xfrm>
          <a:prstGeom prst="rect">
            <a:avLst/>
          </a:prstGeom>
          <a:noFill/>
        </p:spPr>
        <p:txBody>
          <a:bodyPr wrap="square">
            <a:spAutoFit/>
          </a:bodyPr>
          <a:lstStyle/>
          <a:p>
            <a:pPr algn="ctr">
              <a:buNone/>
            </a:pPr>
            <a:r>
              <a:rPr lang="en-US" sz="3000" b="1" dirty="0"/>
              <a:t>Future Works</a:t>
            </a:r>
          </a:p>
          <a:p>
            <a:pPr algn="ctr">
              <a:buNone/>
            </a:pPr>
            <a:endParaRPr lang="en-US" sz="3000" b="1" dirty="0"/>
          </a:p>
          <a:p>
            <a:pPr marL="342900" indent="-342900">
              <a:buFont typeface="Wingdings" panose="05000000000000000000" pitchFamily="2" charset="2"/>
              <a:buChar char="v"/>
            </a:pPr>
            <a:r>
              <a:rPr lang="en-US" sz="2000" dirty="0"/>
              <a:t>Plan to try deep learning models like </a:t>
            </a:r>
            <a:r>
              <a:rPr lang="en-US" sz="2000" b="1" dirty="0"/>
              <a:t>Artificial Neural Networks (ANN)</a:t>
            </a:r>
            <a:r>
              <a:rPr lang="en-US" sz="2000" dirty="0"/>
              <a:t> for better accuracy.</a:t>
            </a:r>
          </a:p>
          <a:p>
            <a:pPr marL="342900" indent="-342900">
              <a:buFont typeface="Wingdings" panose="05000000000000000000" pitchFamily="2" charset="2"/>
              <a:buChar char="v"/>
            </a:pPr>
            <a:r>
              <a:rPr lang="en-US" sz="2000" dirty="0"/>
              <a:t>Add more features like </a:t>
            </a:r>
            <a:r>
              <a:rPr lang="en-US" sz="2000" b="1" dirty="0"/>
              <a:t>transaction history</a:t>
            </a:r>
            <a:r>
              <a:rPr lang="en-US" sz="2000" dirty="0"/>
              <a:t> or </a:t>
            </a:r>
            <a:r>
              <a:rPr lang="en-US" sz="2000" b="1" dirty="0"/>
              <a:t>customer feedback</a:t>
            </a:r>
            <a:r>
              <a:rPr lang="en-US" sz="2000" dirty="0"/>
              <a:t> for better predictions. </a:t>
            </a:r>
          </a:p>
          <a:p>
            <a:pPr marL="342900" indent="-342900">
              <a:buFont typeface="Wingdings" panose="05000000000000000000" pitchFamily="2" charset="2"/>
              <a:buChar char="v"/>
            </a:pPr>
            <a:r>
              <a:rPr lang="en-US" sz="2000" dirty="0"/>
              <a:t>Plan to build a </a:t>
            </a:r>
            <a:r>
              <a:rPr lang="en-US" sz="2000" b="1" dirty="0"/>
              <a:t>web or mobile app</a:t>
            </a:r>
            <a:r>
              <a:rPr lang="en-US" sz="2000" dirty="0"/>
              <a:t> for real-time churn prediction.</a:t>
            </a:r>
          </a:p>
          <a:p>
            <a:pPr marL="342900" indent="-342900">
              <a:buFont typeface="Wingdings" panose="05000000000000000000" pitchFamily="2" charset="2"/>
              <a:buChar char="v"/>
            </a:pPr>
            <a:r>
              <a:rPr lang="en-US" sz="2000" dirty="0"/>
              <a:t>Collect more</a:t>
            </a:r>
            <a:r>
              <a:rPr lang="en-US" sz="2000" b="1" dirty="0"/>
              <a:t> updated data </a:t>
            </a:r>
            <a:r>
              <a:rPr lang="en-US" sz="2000" dirty="0"/>
              <a:t>for training to improve model generalization.</a:t>
            </a:r>
          </a:p>
        </p:txBody>
      </p:sp>
    </p:spTree>
    <p:extLst>
      <p:ext uri="{BB962C8B-B14F-4D97-AF65-F5344CB8AC3E}">
        <p14:creationId xmlns:p14="http://schemas.microsoft.com/office/powerpoint/2010/main" val="174502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46D3B-E83A-52FD-E0AA-7F2AF9C5BA73}"/>
              </a:ext>
            </a:extLst>
          </p:cNvPr>
          <p:cNvSpPr txBox="1"/>
          <p:nvPr/>
        </p:nvSpPr>
        <p:spPr>
          <a:xfrm>
            <a:off x="966159" y="1466491"/>
            <a:ext cx="10006641" cy="2985433"/>
          </a:xfrm>
          <a:prstGeom prst="rect">
            <a:avLst/>
          </a:prstGeom>
          <a:noFill/>
        </p:spPr>
        <p:txBody>
          <a:bodyPr wrap="square">
            <a:spAutoFit/>
          </a:bodyPr>
          <a:lstStyle/>
          <a:p>
            <a:pPr algn="ctr"/>
            <a:r>
              <a:rPr lang="en-US" sz="3000" b="1" dirty="0"/>
              <a:t>Conclusion</a:t>
            </a:r>
          </a:p>
          <a:p>
            <a:pPr algn="just"/>
            <a:endParaRPr lang="en-US" dirty="0"/>
          </a:p>
          <a:p>
            <a:pPr algn="just"/>
            <a:r>
              <a:rPr lang="en-US" sz="2000" dirty="0"/>
              <a:t>	In this project, we focused on predicting customer churn in banks using machine learning techniques. After performing thorough data preprocessing and handling class imbalance with SMOTE, we trained and evaluated multiple models. Among them, Random Forest provided the highest accuracy and proved to be the most effective. Our model can help banks identify customers who are likely to leave, enabling them to take early action to improve customer retention. This project highlights how machine learning can be a powerful tool in solving real-world business problems.</a:t>
            </a:r>
            <a:endParaRPr lang="en-IN" sz="2000" dirty="0"/>
          </a:p>
        </p:txBody>
      </p:sp>
    </p:spTree>
    <p:extLst>
      <p:ext uri="{BB962C8B-B14F-4D97-AF65-F5344CB8AC3E}">
        <p14:creationId xmlns:p14="http://schemas.microsoft.com/office/powerpoint/2010/main" val="992179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E1F32D-5392-2A49-9EB0-707D9957D400}"/>
              </a:ext>
            </a:extLst>
          </p:cNvPr>
          <p:cNvSpPr txBox="1"/>
          <p:nvPr/>
        </p:nvSpPr>
        <p:spPr>
          <a:xfrm>
            <a:off x="1262332" y="2317319"/>
            <a:ext cx="9667335" cy="1015663"/>
          </a:xfrm>
          <a:prstGeom prst="rect">
            <a:avLst/>
          </a:prstGeom>
          <a:noFill/>
        </p:spPr>
        <p:txBody>
          <a:bodyPr wrap="square">
            <a:spAutoFit/>
          </a:bodyPr>
          <a:lstStyle/>
          <a:p>
            <a:pPr algn="ctr"/>
            <a:r>
              <a:rPr lang="en-US" sz="6000" b="1" dirty="0"/>
              <a:t>THANK YOU</a:t>
            </a:r>
            <a:endParaRPr lang="en-IN" sz="6000" b="1" dirty="0"/>
          </a:p>
        </p:txBody>
      </p:sp>
    </p:spTree>
    <p:extLst>
      <p:ext uri="{BB962C8B-B14F-4D97-AF65-F5344CB8AC3E}">
        <p14:creationId xmlns:p14="http://schemas.microsoft.com/office/powerpoint/2010/main" val="153107411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772</TotalTime>
  <Words>1093</Words>
  <Application>Microsoft Office PowerPoint</Application>
  <PresentationFormat>Widescreen</PresentationFormat>
  <Paragraphs>121</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Black</vt:lpstr>
      <vt:lpstr>Book Antiqua</vt:lpstr>
      <vt:lpstr>Calibri</vt:lpstr>
      <vt:lpstr>Courier New</vt:lpstr>
      <vt:lpstr>Garamond</vt:lpstr>
      <vt:lpstr>Times New Roman</vt:lpstr>
      <vt:lpstr>Wingdings</vt:lpstr>
      <vt:lpstr>Organic</vt:lpstr>
      <vt:lpstr>Bank Churn Prediction Using ML</vt:lpstr>
      <vt:lpstr>PowerPoint Presentation</vt:lpstr>
      <vt:lpstr>PowerPoint Presentation</vt:lpstr>
      <vt:lpstr>PowerPoint Presentation</vt:lpstr>
      <vt:lpstr>PowerPoint Presentation</vt:lpstr>
      <vt:lpstr>PowerPoint Presentation</vt:lpstr>
      <vt:lpstr>PowerPoint Presentation</vt:lpstr>
      <vt:lpstr>Module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STANLEY</dc:creator>
  <cp:lastModifiedBy>Akash Muthu</cp:lastModifiedBy>
  <cp:revision>32</cp:revision>
  <dcterms:created xsi:type="dcterms:W3CDTF">2022-11-21T05:42:27Z</dcterms:created>
  <dcterms:modified xsi:type="dcterms:W3CDTF">2025-04-07T11:36:11Z</dcterms:modified>
</cp:coreProperties>
</file>