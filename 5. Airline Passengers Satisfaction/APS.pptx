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17"/>
  </p:notesMasterIdLst>
  <p:sldIdLst>
    <p:sldId id="256" r:id="rId2"/>
    <p:sldId id="267" r:id="rId3"/>
    <p:sldId id="282" r:id="rId4"/>
    <p:sldId id="283" r:id="rId5"/>
    <p:sldId id="265" r:id="rId6"/>
    <p:sldId id="268" r:id="rId7"/>
    <p:sldId id="269" r:id="rId8"/>
    <p:sldId id="270" r:id="rId9"/>
    <p:sldId id="271" r:id="rId10"/>
    <p:sldId id="272" r:id="rId11"/>
    <p:sldId id="273" r:id="rId12"/>
    <p:sldId id="274" r:id="rId13"/>
    <p:sldId id="275" r:id="rId14"/>
    <p:sldId id="276" r:id="rId15"/>
    <p:sldId id="27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7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64E10B-B0A2-460C-A531-6DE9B091231F}" type="datetimeFigureOut">
              <a:rPr lang="en-IN" smtClean="0"/>
              <a:t>09-05-2025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E31016-02B1-40B0-B1B5-C1BFCAA7E3EF}" type="slidenum">
              <a:rPr lang="en-IN" smtClean="0"/>
              <a:t>‹#›</a:t>
            </a:fld>
            <a:endParaRPr lang="en-IN"/>
          </a:p>
        </p:txBody>
      </p:sp>
    </p:spTree>
    <p:extLst>
      <p:ext uri="{BB962C8B-B14F-4D97-AF65-F5344CB8AC3E}">
        <p14:creationId xmlns:p14="http://schemas.microsoft.com/office/powerpoint/2010/main" val="1059418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472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51BD9913-18C0-43BD-9D62-CBD9AF1A5C45}"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1037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1243310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1784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62A81A-3438-4E59-A452-6F8027DDB35C}" type="datetimeFigureOut">
              <a:rPr lang="en-IN" smtClean="0"/>
              <a:t>09-05-2025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228430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62A81A-3438-4E59-A452-6F8027DDB35C}" type="datetimeFigureOut">
              <a:rPr lang="en-IN" smtClean="0"/>
              <a:t>09-05-2025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BD9913-18C0-43BD-9D62-CBD9AF1A5C45}"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173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62A81A-3438-4E59-A452-6F8027DDB35C}" type="datetimeFigureOut">
              <a:rPr lang="en-IN" smtClean="0"/>
              <a:t>09-05-2025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BD9913-18C0-43BD-9D62-CBD9AF1A5C4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8235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62A81A-3438-4E59-A452-6F8027DDB35C}" type="datetimeFigureOut">
              <a:rPr lang="en-IN" smtClean="0"/>
              <a:t>09-05-2025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985238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62A81A-3438-4E59-A452-6F8027DDB35C}" type="datetimeFigureOut">
              <a:rPr lang="en-IN" smtClean="0"/>
              <a:t>09-05-2025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4798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62A81A-3438-4E59-A452-6F8027DDB35C}" type="datetimeFigureOut">
              <a:rPr lang="en-IN" smtClean="0"/>
              <a:t>09-05-2025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822940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62A81A-3438-4E59-A452-6F8027DDB35C}" type="datetimeFigureOut">
              <a:rPr lang="en-IN" smtClean="0"/>
              <a:t>09-05-2025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203622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4091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1546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Tree>
    <p:extLst>
      <p:ext uri="{BB962C8B-B14F-4D97-AF65-F5344CB8AC3E}">
        <p14:creationId xmlns:p14="http://schemas.microsoft.com/office/powerpoint/2010/main" val="1790343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9844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469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88191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62A81A-3438-4E59-A452-6F8027DDB35C}" type="datetimeFigureOut">
              <a:rPr lang="en-IN" smtClean="0"/>
              <a:t>09-05-2025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BD9913-18C0-43BD-9D62-CBD9AF1A5C45}"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6933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362A81A-3438-4E59-A452-6F8027DDB35C}" type="datetimeFigureOut">
              <a:rPr lang="en-IN" smtClean="0"/>
              <a:t>09-05-2025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1BD9913-18C0-43BD-9D62-CBD9AF1A5C45}" type="slidenum">
              <a:rPr lang="en-IN" smtClean="0"/>
              <a:t>‹#›</a:t>
            </a:fld>
            <a:endParaRPr lang="en-IN"/>
          </a:p>
        </p:txBody>
      </p:sp>
    </p:spTree>
    <p:extLst>
      <p:ext uri="{BB962C8B-B14F-4D97-AF65-F5344CB8AC3E}">
        <p14:creationId xmlns:p14="http://schemas.microsoft.com/office/powerpoint/2010/main" val="349880515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F9FD0A6-5050-B108-0D0F-6D8E19EF9E86}"/>
              </a:ext>
            </a:extLst>
          </p:cNvPr>
          <p:cNvSpPr>
            <a:spLocks noGrp="1"/>
          </p:cNvSpPr>
          <p:nvPr>
            <p:ph type="ctrTitle"/>
          </p:nvPr>
        </p:nvSpPr>
        <p:spPr>
          <a:xfrm>
            <a:off x="2688165" y="2320507"/>
            <a:ext cx="6815669" cy="1138686"/>
          </a:xfrm>
        </p:spPr>
        <p:txBody>
          <a:bodyPr>
            <a:noAutofit/>
          </a:bodyPr>
          <a:lstStyle/>
          <a:p>
            <a:r>
              <a:rPr lang="en-US" sz="3000" b="1" dirty="0">
                <a:latin typeface="Times New Roman" panose="02020603050405020304" pitchFamily="18" charset="0"/>
                <a:cs typeface="Times New Roman" panose="02020603050405020304" pitchFamily="18" charset="0"/>
              </a:rPr>
              <a:t>Predicting Airline Passenger </a:t>
            </a:r>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Satisfaction Using ML</a:t>
            </a:r>
            <a:endParaRPr lang="en-IN" sz="4000"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0EB4E5F6-EE9A-B343-A6D8-21ABFA759321}"/>
              </a:ext>
            </a:extLst>
          </p:cNvPr>
          <p:cNvSpPr>
            <a:spLocks noGrp="1"/>
          </p:cNvSpPr>
          <p:nvPr>
            <p:ph type="subTitle" idx="1"/>
          </p:nvPr>
        </p:nvSpPr>
        <p:spPr>
          <a:xfrm>
            <a:off x="2692398" y="3933643"/>
            <a:ext cx="6815669" cy="1320802"/>
          </a:xfrm>
        </p:spPr>
        <p:txBody>
          <a:bodyPr>
            <a:normAutofit/>
          </a:bodyPr>
          <a:lstStyle/>
          <a:p>
            <a:r>
              <a:rPr lang="en-US" b="1" dirty="0">
                <a:latin typeface="Times New Roman" panose="02020603050405020304" pitchFamily="18" charset="0"/>
                <a:cs typeface="Times New Roman" panose="02020603050405020304" pitchFamily="18" charset="0"/>
              </a:rPr>
              <a:t>Submitted By</a:t>
            </a:r>
          </a:p>
          <a:p>
            <a:r>
              <a:rPr lang="en-US" b="1" dirty="0">
                <a:latin typeface="Times New Roman" panose="02020603050405020304" pitchFamily="18" charset="0"/>
                <a:cs typeface="Times New Roman" panose="02020603050405020304" pitchFamily="18" charset="0"/>
              </a:rPr>
              <a:t>Akash M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8767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9EAF34D-D5E7-0D5D-7048-49E3473B763C}"/>
              </a:ext>
            </a:extLst>
          </p:cNvPr>
          <p:cNvSpPr txBox="1"/>
          <p:nvPr/>
        </p:nvSpPr>
        <p:spPr>
          <a:xfrm>
            <a:off x="846827" y="612844"/>
            <a:ext cx="10498346" cy="5632311"/>
          </a:xfrm>
          <a:prstGeom prst="rect">
            <a:avLst/>
          </a:prstGeom>
          <a:noFill/>
        </p:spPr>
        <p:txBody>
          <a:bodyPr wrap="square">
            <a:spAutoFit/>
          </a:bodyPr>
          <a:lstStyle/>
          <a:p>
            <a:pPr marL="144000" algn="ctr">
              <a:buNone/>
            </a:pPr>
            <a:r>
              <a:rPr lang="en-US" sz="3000" b="1" dirty="0">
                <a:latin typeface="Times New Roman" panose="02020603050405020304" pitchFamily="18" charset="0"/>
                <a:cs typeface="Times New Roman" panose="02020603050405020304" pitchFamily="18" charset="0"/>
              </a:rPr>
              <a:t>Abstract</a:t>
            </a:r>
          </a:p>
          <a:p>
            <a:pPr marL="144000" algn="ctr"/>
            <a:r>
              <a:rPr lang="en-US" sz="3000" b="1"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Purpose</a:t>
            </a:r>
            <a:r>
              <a:rPr lang="en-US" sz="2000" dirty="0">
                <a:latin typeface="Times New Roman" panose="02020603050405020304" pitchFamily="18" charset="0"/>
                <a:cs typeface="Times New Roman" panose="02020603050405020304" pitchFamily="18" charset="0"/>
              </a:rPr>
              <a:t>: The project aims to predict Passengers Satisfaction in a Airline using Machine Learning techniques.</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Importance</a:t>
            </a:r>
            <a:r>
              <a:rPr lang="en-US" sz="2000" dirty="0">
                <a:latin typeface="Times New Roman" panose="02020603050405020304" pitchFamily="18" charset="0"/>
                <a:cs typeface="Times New Roman" panose="02020603050405020304" pitchFamily="18" charset="0"/>
              </a:rPr>
              <a:t>: Early prediction helps Airlines improve Passengers retention and reduce revenue loss.</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Dataset</a:t>
            </a:r>
            <a:r>
              <a:rPr lang="en-US" sz="2000" dirty="0">
                <a:latin typeface="Times New Roman" panose="02020603050405020304" pitchFamily="18" charset="0"/>
                <a:cs typeface="Times New Roman" panose="02020603050405020304" pitchFamily="18" charset="0"/>
              </a:rPr>
              <a:t>: Utilized Airline passenger’s dataset containing features like Age, Gender, Class, Distance and more.</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Preprocessing</a:t>
            </a:r>
            <a:r>
              <a:rPr lang="en-US" sz="2000" dirty="0">
                <a:latin typeface="Times New Roman" panose="02020603050405020304" pitchFamily="18" charset="0"/>
                <a:cs typeface="Times New Roman" panose="02020603050405020304" pitchFamily="18" charset="0"/>
              </a:rPr>
              <a:t>: Performed data cleaning, dropped irrelevant columns, encoded categorical variables, and handled imbalances.</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Exploratory Data Analysis</a:t>
            </a:r>
            <a:r>
              <a:rPr lang="en-US" sz="2000" dirty="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Visualized distribution </a:t>
            </a:r>
            <a:r>
              <a:rPr lang="en-US" sz="2000" dirty="0">
                <a:latin typeface="Times New Roman" panose="02020603050405020304" pitchFamily="18" charset="0"/>
                <a:cs typeface="Times New Roman" panose="02020603050405020304" pitchFamily="18" charset="0"/>
              </a:rPr>
              <a:t>by gender and Class to uncover patterns and correlations.</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Model Building</a:t>
            </a:r>
            <a:r>
              <a:rPr lang="en-US" sz="2000" dirty="0">
                <a:latin typeface="Times New Roman" panose="02020603050405020304" pitchFamily="18" charset="0"/>
                <a:cs typeface="Times New Roman" panose="02020603050405020304" pitchFamily="18" charset="0"/>
              </a:rPr>
              <a:t>: Trained multiple ML models including Random Forest and XGBoost to classify Passengers satisfaction.</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Evaluation</a:t>
            </a:r>
            <a:r>
              <a:rPr lang="en-US" sz="2000" dirty="0">
                <a:latin typeface="Times New Roman" panose="02020603050405020304" pitchFamily="18" charset="0"/>
                <a:cs typeface="Times New Roman" panose="02020603050405020304" pitchFamily="18" charset="0"/>
              </a:rPr>
              <a:t>: Used accuracy, precision, recall, and F1-score to evaluate model performance.</a:t>
            </a:r>
          </a:p>
          <a:p>
            <a:pPr marL="342900" indent="-342900" algn="jus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Conclusion</a:t>
            </a:r>
            <a:r>
              <a:rPr lang="en-US" sz="2000" dirty="0">
                <a:latin typeface="Times New Roman" panose="02020603050405020304" pitchFamily="18" charset="0"/>
                <a:cs typeface="Times New Roman" panose="02020603050405020304" pitchFamily="18" charset="0"/>
              </a:rPr>
              <a:t>: The model provides valuable insights to help Airlines identify Dissatisfaction and take timely action.</a:t>
            </a:r>
          </a:p>
        </p:txBody>
      </p:sp>
    </p:spTree>
    <p:extLst>
      <p:ext uri="{BB962C8B-B14F-4D97-AF65-F5344CB8AC3E}">
        <p14:creationId xmlns:p14="http://schemas.microsoft.com/office/powerpoint/2010/main" val="1421241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5C357C8-B7F9-91AE-0CEC-C61DCEC2636D}"/>
              </a:ext>
            </a:extLst>
          </p:cNvPr>
          <p:cNvGraphicFramePr>
            <a:graphicFrameLocks noGrp="1"/>
          </p:cNvGraphicFramePr>
          <p:nvPr>
            <p:extLst>
              <p:ext uri="{D42A27DB-BD31-4B8C-83A1-F6EECF244321}">
                <p14:modId xmlns:p14="http://schemas.microsoft.com/office/powerpoint/2010/main" val="153042054"/>
              </p:ext>
            </p:extLst>
          </p:nvPr>
        </p:nvGraphicFramePr>
        <p:xfrm>
          <a:off x="973906" y="1187231"/>
          <a:ext cx="10326698" cy="4928899"/>
        </p:xfrm>
        <a:graphic>
          <a:graphicData uri="http://schemas.openxmlformats.org/drawingml/2006/table">
            <a:tbl>
              <a:tblPr/>
              <a:tblGrid>
                <a:gridCol w="3971810">
                  <a:extLst>
                    <a:ext uri="{9D8B030D-6E8A-4147-A177-3AD203B41FA5}">
                      <a16:colId xmlns:a16="http://schemas.microsoft.com/office/drawing/2014/main" val="376855752"/>
                    </a:ext>
                  </a:extLst>
                </a:gridCol>
                <a:gridCol w="6354888">
                  <a:extLst>
                    <a:ext uri="{9D8B030D-6E8A-4147-A177-3AD203B41FA5}">
                      <a16:colId xmlns:a16="http://schemas.microsoft.com/office/drawing/2014/main" val="752174483"/>
                    </a:ext>
                  </a:extLst>
                </a:gridCol>
              </a:tblGrid>
              <a:tr h="371318">
                <a:tc>
                  <a:txBody>
                    <a:bodyPr/>
                    <a:lstStyle/>
                    <a:p>
                      <a:pPr algn="l" fontAlgn="b"/>
                      <a:r>
                        <a:rPr lang="en-IN" sz="1600" b="1" i="0" u="none" strike="noStrike" dirty="0">
                          <a:solidFill>
                            <a:srgbClr val="000000"/>
                          </a:solidFill>
                          <a:effectLst/>
                          <a:latin typeface="Times New Roman" panose="02020603050405020304" pitchFamily="18" charset="0"/>
                          <a:cs typeface="Times New Roman" panose="02020603050405020304" pitchFamily="18" charset="0"/>
                        </a:rPr>
                        <a:t>Field</a:t>
                      </a:r>
                    </a:p>
                  </a:txBody>
                  <a:tcPr marL="1186" marR="1186" marT="1186" marB="0" anchor="b">
                    <a:lnL>
                      <a:noFill/>
                    </a:lnL>
                    <a:lnR>
                      <a:noFill/>
                    </a:lnR>
                    <a:lnT>
                      <a:noFill/>
                    </a:lnT>
                    <a:lnB>
                      <a:noFill/>
                    </a:lnB>
                  </a:tcPr>
                </a:tc>
                <a:tc>
                  <a:txBody>
                    <a:bodyPr/>
                    <a:lstStyle/>
                    <a:p>
                      <a:pPr algn="l" fontAlgn="b"/>
                      <a:r>
                        <a:rPr lang="en-IN" sz="1600" b="1" i="0" u="none" strike="noStrike" dirty="0">
                          <a:solidFill>
                            <a:srgbClr val="000000"/>
                          </a:solidFill>
                          <a:effectLst/>
                          <a:latin typeface="Times New Roman" panose="02020603050405020304" pitchFamily="18" charset="0"/>
                          <a:cs typeface="Times New Roman" panose="02020603050405020304" pitchFamily="18" charset="0"/>
                        </a:rPr>
                        <a:t>Description</a:t>
                      </a:r>
                    </a:p>
                  </a:txBody>
                  <a:tcPr marL="1186" marR="1186" marT="1186" marB="0" anchor="b">
                    <a:lnL>
                      <a:noFill/>
                    </a:lnL>
                    <a:lnR>
                      <a:noFill/>
                    </a:lnR>
                    <a:lnT>
                      <a:noFill/>
                    </a:lnT>
                    <a:lnB>
                      <a:noFill/>
                    </a:lnB>
                  </a:tcPr>
                </a:tc>
                <a:extLst>
                  <a:ext uri="{0D108BD9-81ED-4DB2-BD59-A6C34878D82A}">
                    <a16:rowId xmlns:a16="http://schemas.microsoft.com/office/drawing/2014/main" val="2933292878"/>
                  </a:ext>
                </a:extLst>
              </a:tr>
              <a:tr h="240179">
                <a:tc>
                  <a:txBody>
                    <a:bodyPr/>
                    <a:lstStyle/>
                    <a:p>
                      <a:pPr algn="l" fontAlgn="b"/>
                      <a:r>
                        <a:rPr lang="en-IN" sz="1400" b="0" i="0" u="none" strike="noStrike" dirty="0">
                          <a:solidFill>
                            <a:srgbClr val="000000"/>
                          </a:solidFill>
                          <a:effectLst/>
                          <a:latin typeface="Times New Roman" panose="02020603050405020304" pitchFamily="18" charset="0"/>
                          <a:cs typeface="Times New Roman" panose="02020603050405020304" pitchFamily="18" charset="0"/>
                        </a:rPr>
                        <a:t>ID</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IN" sz="1400" b="0" i="0" u="none" strike="noStrike">
                          <a:solidFill>
                            <a:srgbClr val="000000"/>
                          </a:solidFill>
                          <a:effectLst/>
                          <a:latin typeface="Times New Roman" panose="02020603050405020304" pitchFamily="18" charset="0"/>
                          <a:cs typeface="Times New Roman" panose="02020603050405020304" pitchFamily="18" charset="0"/>
                        </a:rPr>
                        <a:t>Unique passenger identifier</a:t>
                      </a:r>
                    </a:p>
                  </a:txBody>
                  <a:tcPr marL="1186" marR="1186" marT="1186" marB="0" anchor="b">
                    <a:lnL>
                      <a:noFill/>
                    </a:lnL>
                    <a:lnR>
                      <a:noFill/>
                    </a:lnR>
                    <a:lnT>
                      <a:noFill/>
                    </a:lnT>
                    <a:lnB>
                      <a:noFill/>
                    </a:lnB>
                  </a:tcPr>
                </a:tc>
                <a:extLst>
                  <a:ext uri="{0D108BD9-81ED-4DB2-BD59-A6C34878D82A}">
                    <a16:rowId xmlns:a16="http://schemas.microsoft.com/office/drawing/2014/main" val="3621830481"/>
                  </a:ext>
                </a:extLst>
              </a:tr>
              <a:tr h="240179">
                <a:tc>
                  <a:txBody>
                    <a:bodyPr/>
                    <a:lstStyle/>
                    <a:p>
                      <a:pPr algn="l" fontAlgn="b"/>
                      <a:r>
                        <a:rPr lang="en-IN" sz="1400" b="0" i="0" u="none" strike="noStrike" dirty="0">
                          <a:solidFill>
                            <a:srgbClr val="000000"/>
                          </a:solidFill>
                          <a:effectLst/>
                          <a:latin typeface="Times New Roman" panose="02020603050405020304" pitchFamily="18" charset="0"/>
                          <a:cs typeface="Times New Roman" panose="02020603050405020304" pitchFamily="18" charset="0"/>
                        </a:rPr>
                        <a:t>Gender</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a:solidFill>
                            <a:srgbClr val="000000"/>
                          </a:solidFill>
                          <a:effectLst/>
                          <a:latin typeface="Times New Roman" panose="02020603050405020304" pitchFamily="18" charset="0"/>
                          <a:cs typeface="Times New Roman" panose="02020603050405020304" pitchFamily="18" charset="0"/>
                        </a:rPr>
                        <a:t>Gender of the passenger (Female/Male)</a:t>
                      </a:r>
                    </a:p>
                  </a:txBody>
                  <a:tcPr marL="1186" marR="1186" marT="1186" marB="0" anchor="b">
                    <a:lnL>
                      <a:noFill/>
                    </a:lnL>
                    <a:lnR>
                      <a:noFill/>
                    </a:lnR>
                    <a:lnT>
                      <a:noFill/>
                    </a:lnT>
                    <a:lnB>
                      <a:noFill/>
                    </a:lnB>
                  </a:tcPr>
                </a:tc>
                <a:extLst>
                  <a:ext uri="{0D108BD9-81ED-4DB2-BD59-A6C34878D82A}">
                    <a16:rowId xmlns:a16="http://schemas.microsoft.com/office/drawing/2014/main" val="503309759"/>
                  </a:ext>
                </a:extLst>
              </a:tr>
              <a:tr h="240179">
                <a:tc>
                  <a:txBody>
                    <a:bodyPr/>
                    <a:lstStyle/>
                    <a:p>
                      <a:pPr algn="l" fontAlgn="b"/>
                      <a:r>
                        <a:rPr lang="en-IN" sz="1400" b="0" i="0" u="none" strike="noStrike" dirty="0">
                          <a:solidFill>
                            <a:srgbClr val="000000"/>
                          </a:solidFill>
                          <a:effectLst/>
                          <a:latin typeface="Times New Roman" panose="02020603050405020304" pitchFamily="18" charset="0"/>
                          <a:cs typeface="Times New Roman" panose="02020603050405020304" pitchFamily="18" charset="0"/>
                        </a:rPr>
                        <a:t>Age</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IN" sz="1400" b="0" i="0" u="none" strike="noStrike">
                          <a:solidFill>
                            <a:srgbClr val="000000"/>
                          </a:solidFill>
                          <a:effectLst/>
                          <a:latin typeface="Times New Roman" panose="02020603050405020304" pitchFamily="18" charset="0"/>
                          <a:cs typeface="Times New Roman" panose="02020603050405020304" pitchFamily="18" charset="0"/>
                        </a:rPr>
                        <a:t>Age of the passenger</a:t>
                      </a:r>
                    </a:p>
                  </a:txBody>
                  <a:tcPr marL="1186" marR="1186" marT="1186" marB="0" anchor="b">
                    <a:lnL>
                      <a:noFill/>
                    </a:lnL>
                    <a:lnR>
                      <a:noFill/>
                    </a:lnR>
                    <a:lnT>
                      <a:noFill/>
                    </a:lnT>
                    <a:lnB>
                      <a:noFill/>
                    </a:lnB>
                  </a:tcPr>
                </a:tc>
                <a:extLst>
                  <a:ext uri="{0D108BD9-81ED-4DB2-BD59-A6C34878D82A}">
                    <a16:rowId xmlns:a16="http://schemas.microsoft.com/office/drawing/2014/main" val="1818433879"/>
                  </a:ext>
                </a:extLst>
              </a:tr>
              <a:tr h="240179">
                <a:tc>
                  <a:txBody>
                    <a:bodyPr/>
                    <a:lstStyle/>
                    <a:p>
                      <a:pPr algn="l" fontAlgn="b"/>
                      <a:r>
                        <a:rPr lang="en-IN" sz="1400" b="0" i="0" u="none" strike="noStrike" dirty="0">
                          <a:solidFill>
                            <a:srgbClr val="000000"/>
                          </a:solidFill>
                          <a:effectLst/>
                          <a:latin typeface="Times New Roman" panose="02020603050405020304" pitchFamily="18" charset="0"/>
                          <a:cs typeface="Times New Roman" panose="02020603050405020304" pitchFamily="18" charset="0"/>
                        </a:rPr>
                        <a:t>Customer Type</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Type of airline customer (First-time/Returning)</a:t>
                      </a:r>
                    </a:p>
                  </a:txBody>
                  <a:tcPr marL="1186" marR="1186" marT="1186" marB="0" anchor="b">
                    <a:lnL>
                      <a:noFill/>
                    </a:lnL>
                    <a:lnR>
                      <a:noFill/>
                    </a:lnR>
                    <a:lnT>
                      <a:noFill/>
                    </a:lnT>
                    <a:lnB>
                      <a:noFill/>
                    </a:lnB>
                  </a:tcPr>
                </a:tc>
                <a:extLst>
                  <a:ext uri="{0D108BD9-81ED-4DB2-BD59-A6C34878D82A}">
                    <a16:rowId xmlns:a16="http://schemas.microsoft.com/office/drawing/2014/main" val="2182931406"/>
                  </a:ext>
                </a:extLst>
              </a:tr>
              <a:tr h="240179">
                <a:tc>
                  <a:txBody>
                    <a:bodyPr/>
                    <a:lstStyle/>
                    <a:p>
                      <a:pPr algn="l" fontAlgn="b"/>
                      <a:r>
                        <a:rPr lang="en-IN" sz="1400" b="0" i="0" u="none" strike="noStrike" dirty="0">
                          <a:solidFill>
                            <a:srgbClr val="000000"/>
                          </a:solidFill>
                          <a:effectLst/>
                          <a:latin typeface="Times New Roman" panose="02020603050405020304" pitchFamily="18" charset="0"/>
                          <a:cs typeface="Times New Roman" panose="02020603050405020304" pitchFamily="18" charset="0"/>
                        </a:rPr>
                        <a:t>Type of Travel</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a:solidFill>
                            <a:srgbClr val="000000"/>
                          </a:solidFill>
                          <a:effectLst/>
                          <a:latin typeface="Times New Roman" panose="02020603050405020304" pitchFamily="18" charset="0"/>
                          <a:cs typeface="Times New Roman" panose="02020603050405020304" pitchFamily="18" charset="0"/>
                        </a:rPr>
                        <a:t>Purpose of the flight (Business/Personal)</a:t>
                      </a:r>
                    </a:p>
                  </a:txBody>
                  <a:tcPr marL="1186" marR="1186" marT="1186" marB="0" anchor="b">
                    <a:lnL>
                      <a:noFill/>
                    </a:lnL>
                    <a:lnR>
                      <a:noFill/>
                    </a:lnR>
                    <a:lnT>
                      <a:noFill/>
                    </a:lnT>
                    <a:lnB>
                      <a:noFill/>
                    </a:lnB>
                  </a:tcPr>
                </a:tc>
                <a:extLst>
                  <a:ext uri="{0D108BD9-81ED-4DB2-BD59-A6C34878D82A}">
                    <a16:rowId xmlns:a16="http://schemas.microsoft.com/office/drawing/2014/main" val="3802801344"/>
                  </a:ext>
                </a:extLst>
              </a:tr>
              <a:tr h="240179">
                <a:tc>
                  <a:txBody>
                    <a:bodyPr/>
                    <a:lstStyle/>
                    <a:p>
                      <a:pPr algn="l" fontAlgn="b"/>
                      <a:r>
                        <a:rPr lang="en-IN" sz="1400" b="0" i="0" u="none" strike="noStrike" dirty="0">
                          <a:solidFill>
                            <a:srgbClr val="000000"/>
                          </a:solidFill>
                          <a:effectLst/>
                          <a:latin typeface="Times New Roman" panose="02020603050405020304" pitchFamily="18" charset="0"/>
                          <a:cs typeface="Times New Roman" panose="02020603050405020304" pitchFamily="18" charset="0"/>
                        </a:rPr>
                        <a:t>Class</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a:solidFill>
                            <a:srgbClr val="000000"/>
                          </a:solidFill>
                          <a:effectLst/>
                          <a:latin typeface="Times New Roman" panose="02020603050405020304" pitchFamily="18" charset="0"/>
                          <a:cs typeface="Times New Roman" panose="02020603050405020304" pitchFamily="18" charset="0"/>
                        </a:rPr>
                        <a:t>Travel class in the airplane for the passenger seat</a:t>
                      </a:r>
                    </a:p>
                  </a:txBody>
                  <a:tcPr marL="1186" marR="1186" marT="1186" marB="0" anchor="b">
                    <a:lnL>
                      <a:noFill/>
                    </a:lnL>
                    <a:lnR>
                      <a:noFill/>
                    </a:lnR>
                    <a:lnT>
                      <a:noFill/>
                    </a:lnT>
                    <a:lnB>
                      <a:noFill/>
                    </a:lnB>
                  </a:tcPr>
                </a:tc>
                <a:extLst>
                  <a:ext uri="{0D108BD9-81ED-4DB2-BD59-A6C34878D82A}">
                    <a16:rowId xmlns:a16="http://schemas.microsoft.com/office/drawing/2014/main" val="353544422"/>
                  </a:ext>
                </a:extLst>
              </a:tr>
              <a:tr h="240179">
                <a:tc>
                  <a:txBody>
                    <a:bodyPr/>
                    <a:lstStyle/>
                    <a:p>
                      <a:pPr algn="l" fontAlgn="b"/>
                      <a:r>
                        <a:rPr lang="en-IN" sz="1400" b="0" i="0" u="none" strike="noStrike" dirty="0">
                          <a:solidFill>
                            <a:srgbClr val="000000"/>
                          </a:solidFill>
                          <a:effectLst/>
                          <a:latin typeface="Times New Roman" panose="02020603050405020304" pitchFamily="18" charset="0"/>
                          <a:cs typeface="Times New Roman" panose="02020603050405020304" pitchFamily="18" charset="0"/>
                        </a:rPr>
                        <a:t>Flight Distance</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IN" sz="1400" b="0" i="0" u="none" strike="noStrike" dirty="0">
                          <a:solidFill>
                            <a:srgbClr val="000000"/>
                          </a:solidFill>
                          <a:effectLst/>
                          <a:latin typeface="Times New Roman" panose="02020603050405020304" pitchFamily="18" charset="0"/>
                          <a:cs typeface="Times New Roman" panose="02020603050405020304" pitchFamily="18" charset="0"/>
                        </a:rPr>
                        <a:t>Flight distance in miles</a:t>
                      </a:r>
                    </a:p>
                  </a:txBody>
                  <a:tcPr marL="1186" marR="1186" marT="1186" marB="0" anchor="b">
                    <a:lnL>
                      <a:noFill/>
                    </a:lnL>
                    <a:lnR>
                      <a:noFill/>
                    </a:lnR>
                    <a:lnT>
                      <a:noFill/>
                    </a:lnT>
                    <a:lnB>
                      <a:noFill/>
                    </a:lnB>
                  </a:tcPr>
                </a:tc>
                <a:extLst>
                  <a:ext uri="{0D108BD9-81ED-4DB2-BD59-A6C34878D82A}">
                    <a16:rowId xmlns:a16="http://schemas.microsoft.com/office/drawing/2014/main" val="1966452791"/>
                  </a:ext>
                </a:extLst>
              </a:tr>
              <a:tr h="240179">
                <a:tc>
                  <a:txBody>
                    <a:bodyPr/>
                    <a:lstStyle/>
                    <a:p>
                      <a:pPr algn="l" fontAlgn="b"/>
                      <a:r>
                        <a:rPr lang="en-IN" sz="1400" b="0" i="0" u="none" strike="noStrike">
                          <a:solidFill>
                            <a:srgbClr val="000000"/>
                          </a:solidFill>
                          <a:effectLst/>
                          <a:latin typeface="Times New Roman" panose="02020603050405020304" pitchFamily="18" charset="0"/>
                          <a:cs typeface="Times New Roman" panose="02020603050405020304" pitchFamily="18" charset="0"/>
                        </a:rPr>
                        <a:t>Departure Delay</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Flight departure delay in minutes</a:t>
                      </a:r>
                    </a:p>
                  </a:txBody>
                  <a:tcPr marL="1186" marR="1186" marT="1186" marB="0" anchor="b">
                    <a:lnL>
                      <a:noFill/>
                    </a:lnL>
                    <a:lnR>
                      <a:noFill/>
                    </a:lnR>
                    <a:lnT>
                      <a:noFill/>
                    </a:lnT>
                    <a:lnB>
                      <a:noFill/>
                    </a:lnB>
                  </a:tcPr>
                </a:tc>
                <a:extLst>
                  <a:ext uri="{0D108BD9-81ED-4DB2-BD59-A6C34878D82A}">
                    <a16:rowId xmlns:a16="http://schemas.microsoft.com/office/drawing/2014/main" val="2521388284"/>
                  </a:ext>
                </a:extLst>
              </a:tr>
              <a:tr h="240179">
                <a:tc>
                  <a:txBody>
                    <a:bodyPr/>
                    <a:lstStyle/>
                    <a:p>
                      <a:pPr algn="l" fontAlgn="b"/>
                      <a:r>
                        <a:rPr lang="en-IN" sz="1400" b="0" i="0" u="none" strike="noStrike">
                          <a:solidFill>
                            <a:srgbClr val="000000"/>
                          </a:solidFill>
                          <a:effectLst/>
                          <a:latin typeface="Times New Roman" panose="02020603050405020304" pitchFamily="18" charset="0"/>
                          <a:cs typeface="Times New Roman" panose="02020603050405020304" pitchFamily="18" charset="0"/>
                        </a:rPr>
                        <a:t>Arrival Delay</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a:solidFill>
                            <a:srgbClr val="000000"/>
                          </a:solidFill>
                          <a:effectLst/>
                          <a:latin typeface="Times New Roman" panose="02020603050405020304" pitchFamily="18" charset="0"/>
                          <a:cs typeface="Times New Roman" panose="02020603050405020304" pitchFamily="18" charset="0"/>
                        </a:rPr>
                        <a:t>Flight arrival delay in minutes</a:t>
                      </a:r>
                    </a:p>
                  </a:txBody>
                  <a:tcPr marL="1186" marR="1186" marT="1186" marB="0" anchor="b">
                    <a:lnL>
                      <a:noFill/>
                    </a:lnL>
                    <a:lnR>
                      <a:noFill/>
                    </a:lnR>
                    <a:lnT>
                      <a:noFill/>
                    </a:lnT>
                    <a:lnB>
                      <a:noFill/>
                    </a:lnB>
                  </a:tcPr>
                </a:tc>
                <a:extLst>
                  <a:ext uri="{0D108BD9-81ED-4DB2-BD59-A6C34878D82A}">
                    <a16:rowId xmlns:a16="http://schemas.microsoft.com/office/drawing/2014/main" val="1704824480"/>
                  </a:ext>
                </a:extLst>
              </a:tr>
              <a:tr h="479194">
                <a:tc>
                  <a:txBody>
                    <a:bodyPr/>
                    <a:lstStyle/>
                    <a:p>
                      <a:pPr algn="l" fontAlgn="b"/>
                      <a:r>
                        <a:rPr lang="en-US" sz="1400" b="0" i="0" u="none" strike="noStrike" dirty="0">
                          <a:solidFill>
                            <a:srgbClr val="000000"/>
                          </a:solidFill>
                          <a:effectLst/>
                          <a:latin typeface="Times New Roman" panose="02020603050405020304" pitchFamily="18" charset="0"/>
                          <a:cs typeface="Times New Roman" panose="02020603050405020304" pitchFamily="18" charset="0"/>
                        </a:rPr>
                        <a:t>Departure and Arrival Time Convenience</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a:solidFill>
                            <a:srgbClr val="000000"/>
                          </a:solidFill>
                          <a:effectLst/>
                          <a:latin typeface="Times New Roman" panose="02020603050405020304" pitchFamily="18" charset="0"/>
                          <a:cs typeface="Times New Roman" panose="02020603050405020304" pitchFamily="18" charset="0"/>
                        </a:rPr>
                        <a:t>Satisfaction level with the convenience of the flight departure and arrival times from 1 (lowest) to 5 (highest) - 0 means "not applicable"</a:t>
                      </a:r>
                    </a:p>
                  </a:txBody>
                  <a:tcPr marL="1186" marR="1186" marT="1186" marB="0" anchor="b">
                    <a:lnL>
                      <a:noFill/>
                    </a:lnL>
                    <a:lnR>
                      <a:noFill/>
                    </a:lnR>
                    <a:lnT>
                      <a:noFill/>
                    </a:lnT>
                    <a:lnB>
                      <a:noFill/>
                    </a:lnB>
                  </a:tcPr>
                </a:tc>
                <a:extLst>
                  <a:ext uri="{0D108BD9-81ED-4DB2-BD59-A6C34878D82A}">
                    <a16:rowId xmlns:a16="http://schemas.microsoft.com/office/drawing/2014/main" val="3482596293"/>
                  </a:ext>
                </a:extLst>
              </a:tr>
              <a:tr h="479194">
                <a:tc>
                  <a:txBody>
                    <a:bodyPr/>
                    <a:lstStyle/>
                    <a:p>
                      <a:pPr algn="l" fontAlgn="b"/>
                      <a:r>
                        <a:rPr lang="en-IN" sz="1400" b="0" i="0" u="none" strike="noStrike">
                          <a:solidFill>
                            <a:srgbClr val="000000"/>
                          </a:solidFill>
                          <a:effectLst/>
                          <a:latin typeface="Times New Roman" panose="02020603050405020304" pitchFamily="18" charset="0"/>
                          <a:cs typeface="Times New Roman" panose="02020603050405020304" pitchFamily="18" charset="0"/>
                        </a:rPr>
                        <a:t>Ease of Online Booking</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a:solidFill>
                            <a:srgbClr val="000000"/>
                          </a:solidFill>
                          <a:effectLst/>
                          <a:latin typeface="Times New Roman" panose="02020603050405020304" pitchFamily="18" charset="0"/>
                          <a:cs typeface="Times New Roman" panose="02020603050405020304" pitchFamily="18" charset="0"/>
                        </a:rPr>
                        <a:t>Satisfaction level with the online booking experience from 1 (lowest) to 5 (highest) - 0 means "not applicable"</a:t>
                      </a:r>
                    </a:p>
                  </a:txBody>
                  <a:tcPr marL="1186" marR="1186" marT="1186" marB="0" anchor="b">
                    <a:lnL>
                      <a:noFill/>
                    </a:lnL>
                    <a:lnR>
                      <a:noFill/>
                    </a:lnR>
                    <a:lnT>
                      <a:noFill/>
                    </a:lnT>
                    <a:lnB>
                      <a:noFill/>
                    </a:lnB>
                  </a:tcPr>
                </a:tc>
                <a:extLst>
                  <a:ext uri="{0D108BD9-81ED-4DB2-BD59-A6C34878D82A}">
                    <a16:rowId xmlns:a16="http://schemas.microsoft.com/office/drawing/2014/main" val="1931373714"/>
                  </a:ext>
                </a:extLst>
              </a:tr>
              <a:tr h="479194">
                <a:tc>
                  <a:txBody>
                    <a:bodyPr/>
                    <a:lstStyle/>
                    <a:p>
                      <a:pPr algn="l" fontAlgn="b"/>
                      <a:r>
                        <a:rPr lang="en-IN" sz="1400" b="0" i="0" u="none" strike="noStrike">
                          <a:solidFill>
                            <a:srgbClr val="000000"/>
                          </a:solidFill>
                          <a:effectLst/>
                          <a:latin typeface="Times New Roman" panose="02020603050405020304" pitchFamily="18" charset="0"/>
                          <a:cs typeface="Times New Roman" panose="02020603050405020304" pitchFamily="18" charset="0"/>
                        </a:rPr>
                        <a:t>Check-in Service</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Satisfaction level with the check-in service from 1 (lowest) to 5 (highest) - 0 means "not applicable"</a:t>
                      </a:r>
                    </a:p>
                  </a:txBody>
                  <a:tcPr marL="1186" marR="1186" marT="1186" marB="0" anchor="b">
                    <a:lnL>
                      <a:noFill/>
                    </a:lnL>
                    <a:lnR>
                      <a:noFill/>
                    </a:lnR>
                    <a:lnT>
                      <a:noFill/>
                    </a:lnT>
                    <a:lnB>
                      <a:noFill/>
                    </a:lnB>
                  </a:tcPr>
                </a:tc>
                <a:extLst>
                  <a:ext uri="{0D108BD9-81ED-4DB2-BD59-A6C34878D82A}">
                    <a16:rowId xmlns:a16="http://schemas.microsoft.com/office/drawing/2014/main" val="2234240242"/>
                  </a:ext>
                </a:extLst>
              </a:tr>
              <a:tr h="479194">
                <a:tc>
                  <a:txBody>
                    <a:bodyPr/>
                    <a:lstStyle/>
                    <a:p>
                      <a:pPr algn="l" fontAlgn="b"/>
                      <a:r>
                        <a:rPr lang="en-IN" sz="1400" b="0" i="0" u="none" strike="noStrike">
                          <a:solidFill>
                            <a:srgbClr val="000000"/>
                          </a:solidFill>
                          <a:effectLst/>
                          <a:latin typeface="Times New Roman" panose="02020603050405020304" pitchFamily="18" charset="0"/>
                          <a:cs typeface="Times New Roman" panose="02020603050405020304" pitchFamily="18" charset="0"/>
                        </a:rPr>
                        <a:t>Online Boarding</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a:solidFill>
                            <a:srgbClr val="000000"/>
                          </a:solidFill>
                          <a:effectLst/>
                          <a:latin typeface="Times New Roman" panose="02020603050405020304" pitchFamily="18" charset="0"/>
                          <a:cs typeface="Times New Roman" panose="02020603050405020304" pitchFamily="18" charset="0"/>
                        </a:rPr>
                        <a:t>Satisfaction level with the online boarding experience from 1 (lowest) to 5 (highest) - 0 means "not applicable"</a:t>
                      </a:r>
                    </a:p>
                  </a:txBody>
                  <a:tcPr marL="1186" marR="1186" marT="1186" marB="0" anchor="b">
                    <a:lnL>
                      <a:noFill/>
                    </a:lnL>
                    <a:lnR>
                      <a:noFill/>
                    </a:lnR>
                    <a:lnT>
                      <a:noFill/>
                    </a:lnT>
                    <a:lnB>
                      <a:noFill/>
                    </a:lnB>
                  </a:tcPr>
                </a:tc>
                <a:extLst>
                  <a:ext uri="{0D108BD9-81ED-4DB2-BD59-A6C34878D82A}">
                    <a16:rowId xmlns:a16="http://schemas.microsoft.com/office/drawing/2014/main" val="2624582464"/>
                  </a:ext>
                </a:extLst>
              </a:tr>
              <a:tr h="479194">
                <a:tc>
                  <a:txBody>
                    <a:bodyPr/>
                    <a:lstStyle/>
                    <a:p>
                      <a:pPr algn="l" fontAlgn="b"/>
                      <a:r>
                        <a:rPr lang="en-IN" sz="1400" b="0" i="0" u="none" strike="noStrike">
                          <a:solidFill>
                            <a:srgbClr val="000000"/>
                          </a:solidFill>
                          <a:effectLst/>
                          <a:latin typeface="Times New Roman" panose="02020603050405020304" pitchFamily="18" charset="0"/>
                          <a:cs typeface="Times New Roman" panose="02020603050405020304" pitchFamily="18" charset="0"/>
                        </a:rPr>
                        <a:t>Gate Location</a:t>
                      </a:r>
                    </a:p>
                  </a:txBody>
                  <a:tcPr marL="1186" marR="1186" marT="1186" marB="0" anchor="b">
                    <a:lnL>
                      <a:noFill/>
                    </a:lnL>
                    <a:lnR>
                      <a:noFill/>
                    </a:lnR>
                    <a:lnT>
                      <a:noFill/>
                    </a:lnT>
                    <a:lnB>
                      <a:noFill/>
                    </a:lnB>
                  </a:tcPr>
                </a:tc>
                <a:tc>
                  <a:txBody>
                    <a:bodyPr/>
                    <a:lstStyle/>
                    <a:p>
                      <a:pPr marL="285750" indent="-285750" algn="l" fontAlgn="b">
                        <a:buFont typeface="Arial" panose="020B0604020202020204" pitchFamily="34" charset="0"/>
                        <a:buChar char="•"/>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Satisfaction level with the gate location in the airport from 1 (lowest) to 5 (highest) - 0 means "not applicable"</a:t>
                      </a:r>
                    </a:p>
                  </a:txBody>
                  <a:tcPr marL="1186" marR="1186" marT="1186" marB="0" anchor="b">
                    <a:lnL>
                      <a:noFill/>
                    </a:lnL>
                    <a:lnR>
                      <a:noFill/>
                    </a:lnR>
                    <a:lnT>
                      <a:noFill/>
                    </a:lnT>
                    <a:lnB>
                      <a:noFill/>
                    </a:lnB>
                  </a:tcPr>
                </a:tc>
                <a:extLst>
                  <a:ext uri="{0D108BD9-81ED-4DB2-BD59-A6C34878D82A}">
                    <a16:rowId xmlns:a16="http://schemas.microsoft.com/office/drawing/2014/main" val="1982853809"/>
                  </a:ext>
                </a:extLst>
              </a:tr>
            </a:tbl>
          </a:graphicData>
        </a:graphic>
      </p:graphicFrame>
      <p:sp>
        <p:nvSpPr>
          <p:cNvPr id="8" name="TextBox 7">
            <a:extLst>
              <a:ext uri="{FF2B5EF4-FFF2-40B4-BE49-F238E27FC236}">
                <a16:creationId xmlns:a16="http://schemas.microsoft.com/office/drawing/2014/main" id="{6AA9836D-9834-1123-1F10-58E02C7CD010}"/>
              </a:ext>
            </a:extLst>
          </p:cNvPr>
          <p:cNvSpPr txBox="1"/>
          <p:nvPr/>
        </p:nvSpPr>
        <p:spPr>
          <a:xfrm>
            <a:off x="973905" y="741870"/>
            <a:ext cx="10326698" cy="400110"/>
          </a:xfrm>
          <a:prstGeom prst="rect">
            <a:avLst/>
          </a:prstGeom>
          <a:noFill/>
        </p:spPr>
        <p:txBody>
          <a:bodyPr wrap="square">
            <a:spAutoFit/>
          </a:bodyPr>
          <a:lstStyle/>
          <a:p>
            <a:pPr algn="ctr"/>
            <a:r>
              <a:rPr lang="en-GB" sz="2000" b="1" dirty="0">
                <a:latin typeface="Times New Roman" panose="02020603050405020304" pitchFamily="18" charset="0"/>
                <a:cs typeface="Times New Roman" panose="02020603050405020304" pitchFamily="18" charset="0"/>
              </a:rPr>
              <a:t>Data Dictionary</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649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4C010FA-1E0F-F2F4-BF0E-469B680826DF}"/>
              </a:ext>
            </a:extLst>
          </p:cNvPr>
          <p:cNvGraphicFramePr>
            <a:graphicFrameLocks noGrp="1"/>
          </p:cNvGraphicFramePr>
          <p:nvPr>
            <p:extLst>
              <p:ext uri="{D42A27DB-BD31-4B8C-83A1-F6EECF244321}">
                <p14:modId xmlns:p14="http://schemas.microsoft.com/office/powerpoint/2010/main" val="416396866"/>
              </p:ext>
            </p:extLst>
          </p:nvPr>
        </p:nvGraphicFramePr>
        <p:xfrm>
          <a:off x="923026" y="1164482"/>
          <a:ext cx="10308566" cy="4959471"/>
        </p:xfrm>
        <a:graphic>
          <a:graphicData uri="http://schemas.openxmlformats.org/drawingml/2006/table">
            <a:tbl>
              <a:tblPr/>
              <a:tblGrid>
                <a:gridCol w="3964836">
                  <a:extLst>
                    <a:ext uri="{9D8B030D-6E8A-4147-A177-3AD203B41FA5}">
                      <a16:colId xmlns:a16="http://schemas.microsoft.com/office/drawing/2014/main" val="2798426230"/>
                    </a:ext>
                  </a:extLst>
                </a:gridCol>
                <a:gridCol w="6343730">
                  <a:extLst>
                    <a:ext uri="{9D8B030D-6E8A-4147-A177-3AD203B41FA5}">
                      <a16:colId xmlns:a16="http://schemas.microsoft.com/office/drawing/2014/main" val="2642348048"/>
                    </a:ext>
                  </a:extLst>
                </a:gridCol>
              </a:tblGrid>
              <a:tr h="372035">
                <a:tc>
                  <a:txBody>
                    <a:bodyPr/>
                    <a:lstStyle/>
                    <a:p>
                      <a:pPr algn="l" fontAlgn="b"/>
                      <a:r>
                        <a:rPr lang="en-IN" sz="1600" b="1" i="0" u="none" strike="noStrike" dirty="0">
                          <a:solidFill>
                            <a:srgbClr val="000000"/>
                          </a:solidFill>
                          <a:effectLst/>
                          <a:latin typeface="Times New Roman" panose="02020603050405020304" pitchFamily="18" charset="0"/>
                          <a:cs typeface="Times New Roman" panose="02020603050405020304" pitchFamily="18" charset="0"/>
                        </a:rPr>
                        <a:t>Field</a:t>
                      </a:r>
                    </a:p>
                  </a:txBody>
                  <a:tcPr marL="1186" marR="1186" marT="1186" marB="0" anchor="b">
                    <a:lnL>
                      <a:noFill/>
                    </a:lnL>
                    <a:lnR>
                      <a:noFill/>
                    </a:lnR>
                    <a:lnT>
                      <a:noFill/>
                    </a:lnT>
                    <a:lnB>
                      <a:noFill/>
                    </a:lnB>
                  </a:tcPr>
                </a:tc>
                <a:tc>
                  <a:txBody>
                    <a:bodyPr/>
                    <a:lstStyle/>
                    <a:p>
                      <a:pPr marL="0" indent="0" algn="l" fontAlgn="b">
                        <a:buFont typeface="Arial" panose="020B0604020202020204" pitchFamily="34" charset="0"/>
                        <a:buNone/>
                      </a:pPr>
                      <a:r>
                        <a:rPr lang="en-IN" sz="1600" b="1" i="0" u="none" strike="noStrike" dirty="0">
                          <a:solidFill>
                            <a:srgbClr val="000000"/>
                          </a:solidFill>
                          <a:effectLst/>
                          <a:latin typeface="Times New Roman" panose="02020603050405020304" pitchFamily="18" charset="0"/>
                          <a:cs typeface="Times New Roman" panose="02020603050405020304" pitchFamily="18" charset="0"/>
                        </a:rPr>
                        <a:t>Description</a:t>
                      </a:r>
                    </a:p>
                  </a:txBody>
                  <a:tcPr marL="1186" marR="1186" marT="1186" marB="0" anchor="b">
                    <a:lnL>
                      <a:noFill/>
                    </a:lnL>
                    <a:lnR>
                      <a:noFill/>
                    </a:lnR>
                    <a:lnT>
                      <a:noFill/>
                    </a:lnT>
                    <a:lnB>
                      <a:noFill/>
                    </a:lnB>
                  </a:tcPr>
                </a:tc>
                <a:extLst>
                  <a:ext uri="{0D108BD9-81ED-4DB2-BD59-A6C34878D82A}">
                    <a16:rowId xmlns:a16="http://schemas.microsoft.com/office/drawing/2014/main" val="2155966644"/>
                  </a:ext>
                </a:extLst>
              </a:tr>
              <a:tr h="462170">
                <a:tc>
                  <a:txBody>
                    <a:bodyPr/>
                    <a:lstStyle/>
                    <a:p>
                      <a:pPr algn="l" fontAlgn="b"/>
                      <a:r>
                        <a:rPr lang="en-IN" sz="1400" dirty="0"/>
                        <a:t>On-board Service </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on-boarding service in the airport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1483736188"/>
                  </a:ext>
                </a:extLst>
              </a:tr>
              <a:tr h="462170">
                <a:tc>
                  <a:txBody>
                    <a:bodyPr/>
                    <a:lstStyle/>
                    <a:p>
                      <a:pPr algn="l" fontAlgn="b"/>
                      <a:r>
                        <a:rPr lang="en-IN" sz="1400" dirty="0"/>
                        <a:t>Seat Comfort</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comfort of the airplane seat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2816270135"/>
                  </a:ext>
                </a:extLst>
              </a:tr>
              <a:tr h="462170">
                <a:tc>
                  <a:txBody>
                    <a:bodyPr/>
                    <a:lstStyle/>
                    <a:p>
                      <a:pPr algn="l" fontAlgn="b"/>
                      <a:r>
                        <a:rPr lang="en-IN" sz="1400" dirty="0"/>
                        <a:t>Leg Room Service</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IN" sz="1400" dirty="0"/>
                        <a:t> </a:t>
                      </a:r>
                      <a:r>
                        <a:rPr lang="en-US" sz="1400" dirty="0"/>
                        <a:t>Satisfaction level with the leg room of the airplane seat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2794493346"/>
                  </a:ext>
                </a:extLst>
              </a:tr>
              <a:tr h="462170">
                <a:tc>
                  <a:txBody>
                    <a:bodyPr/>
                    <a:lstStyle/>
                    <a:p>
                      <a:pPr algn="l" fontAlgn="b"/>
                      <a:r>
                        <a:rPr lang="en-IN" sz="1400" dirty="0"/>
                        <a:t>Cleanliness</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cleanliness of the airplane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3086806268"/>
                  </a:ext>
                </a:extLst>
              </a:tr>
              <a:tr h="462170">
                <a:tc>
                  <a:txBody>
                    <a:bodyPr/>
                    <a:lstStyle/>
                    <a:p>
                      <a:pPr algn="l" fontAlgn="b"/>
                      <a:r>
                        <a:rPr lang="en-IN" sz="1400" dirty="0"/>
                        <a:t>Food and Drink</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food and drinks on the airplane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3200171840"/>
                  </a:ext>
                </a:extLst>
              </a:tr>
              <a:tr h="462170">
                <a:tc>
                  <a:txBody>
                    <a:bodyPr/>
                    <a:lstStyle/>
                    <a:p>
                      <a:pPr algn="l" fontAlgn="b"/>
                      <a:r>
                        <a:rPr lang="en-IN" sz="1400" dirty="0"/>
                        <a:t>In-flight Service</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in-flight service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3334980641"/>
                  </a:ext>
                </a:extLst>
              </a:tr>
              <a:tr h="462170">
                <a:tc>
                  <a:txBody>
                    <a:bodyPr/>
                    <a:lstStyle/>
                    <a:p>
                      <a:pPr algn="l" fontAlgn="b"/>
                      <a:r>
                        <a:rPr lang="en-IN" sz="1400" dirty="0"/>
                        <a:t>In-flight </a:t>
                      </a:r>
                      <a:r>
                        <a:rPr lang="en-IN" sz="1400" dirty="0" err="1"/>
                        <a:t>Wifi</a:t>
                      </a:r>
                      <a:r>
                        <a:rPr lang="en-IN" sz="1400" dirty="0"/>
                        <a:t> Service</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in-flight </a:t>
                      </a:r>
                      <a:r>
                        <a:rPr lang="en-US" sz="1400" dirty="0" err="1"/>
                        <a:t>Wifi</a:t>
                      </a:r>
                      <a:r>
                        <a:rPr lang="en-US" sz="1400" dirty="0"/>
                        <a:t> service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3118062757"/>
                  </a:ext>
                </a:extLst>
              </a:tr>
              <a:tr h="462170">
                <a:tc>
                  <a:txBody>
                    <a:bodyPr/>
                    <a:lstStyle/>
                    <a:p>
                      <a:pPr algn="l" fontAlgn="b"/>
                      <a:r>
                        <a:rPr lang="en-IN" sz="1400" dirty="0"/>
                        <a:t>In-flight Entertainment</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in-flight entertainment from 1 (lowest) to 5 (highest) - 0 means "not applicable"</a:t>
                      </a:r>
                      <a:endParaRPr lang="en-IN" sz="1400" dirty="0"/>
                    </a:p>
                  </a:txBody>
                  <a:tcPr marL="1186" marR="1186" marT="1186" marB="0" anchor="b">
                    <a:lnL>
                      <a:noFill/>
                    </a:lnL>
                    <a:lnR>
                      <a:noFill/>
                    </a:lnR>
                    <a:lnT>
                      <a:noFill/>
                    </a:lnT>
                    <a:lnB>
                      <a:noFill/>
                    </a:lnB>
                  </a:tcPr>
                </a:tc>
                <a:extLst>
                  <a:ext uri="{0D108BD9-81ED-4DB2-BD59-A6C34878D82A}">
                    <a16:rowId xmlns:a16="http://schemas.microsoft.com/office/drawing/2014/main" val="3487161645"/>
                  </a:ext>
                </a:extLst>
              </a:tr>
              <a:tr h="462170">
                <a:tc>
                  <a:txBody>
                    <a:bodyPr/>
                    <a:lstStyle/>
                    <a:p>
                      <a:pPr algn="l" fontAlgn="b"/>
                      <a:r>
                        <a:rPr lang="en-IN" sz="1400" dirty="0"/>
                        <a:t>Baggage Handling</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t>Satisfaction level with the baggage handling from the airline from 1 (lowest) to 5 (highest) - 0 means "not applicable“</a:t>
                      </a:r>
                    </a:p>
                  </a:txBody>
                  <a:tcPr marL="1186" marR="1186" marT="1186" marB="0" anchor="b">
                    <a:lnL>
                      <a:noFill/>
                    </a:lnL>
                    <a:lnR>
                      <a:noFill/>
                    </a:lnR>
                    <a:lnT>
                      <a:noFill/>
                    </a:lnT>
                    <a:lnB>
                      <a:noFill/>
                    </a:lnB>
                  </a:tcPr>
                </a:tc>
                <a:extLst>
                  <a:ext uri="{0D108BD9-81ED-4DB2-BD59-A6C34878D82A}">
                    <a16:rowId xmlns:a16="http://schemas.microsoft.com/office/drawing/2014/main" val="4214002381"/>
                  </a:ext>
                </a:extLst>
              </a:tr>
              <a:tr h="404133">
                <a:tc>
                  <a:txBody>
                    <a:bodyPr/>
                    <a:lstStyle/>
                    <a:p>
                      <a:pPr algn="l" fontAlgn="b"/>
                      <a:r>
                        <a:rPr lang="en-IN" sz="1400" dirty="0">
                          <a:solidFill>
                            <a:srgbClr val="FF0000"/>
                          </a:solidFill>
                        </a:rPr>
                        <a:t>Overall- Satisfaction</a:t>
                      </a:r>
                      <a:endParaRPr lang="en-US" sz="14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186" marR="1186" marT="1186" marB="0" anchor="b">
                    <a:lnL>
                      <a:noFill/>
                    </a:lnL>
                    <a:lnR>
                      <a:noFill/>
                    </a:lnR>
                    <a:lnT>
                      <a:noFill/>
                    </a:lnT>
                    <a:lnB>
                      <a:noFill/>
                    </a:lnB>
                  </a:tcPr>
                </a:tc>
                <a:tc>
                  <a:txBody>
                    <a:bodyPr/>
                    <a:lstStyle/>
                    <a:p>
                      <a:pPr marL="285750" indent="-285750" fontAlgn="b">
                        <a:buFont typeface="Arial" panose="020B0604020202020204" pitchFamily="34" charset="0"/>
                        <a:buChar char="•"/>
                      </a:pPr>
                      <a:r>
                        <a:rPr lang="en-US" sz="1400" dirty="0">
                          <a:solidFill>
                            <a:srgbClr val="FF0000"/>
                          </a:solidFill>
                        </a:rPr>
                        <a:t>Overall satisfaction level with the airline (Satisfied/Neutral or unsatisfied) –Target column</a:t>
                      </a:r>
                      <a:endParaRPr lang="en-IN" sz="1400" dirty="0">
                        <a:solidFill>
                          <a:srgbClr val="FF0000"/>
                        </a:solidFill>
                      </a:endParaRPr>
                    </a:p>
                  </a:txBody>
                  <a:tcPr marL="1186" marR="1186" marT="1186" marB="0" anchor="b">
                    <a:lnL>
                      <a:noFill/>
                    </a:lnL>
                    <a:lnR>
                      <a:noFill/>
                    </a:lnR>
                    <a:lnT>
                      <a:noFill/>
                    </a:lnT>
                    <a:lnB>
                      <a:noFill/>
                    </a:lnB>
                  </a:tcPr>
                </a:tc>
                <a:extLst>
                  <a:ext uri="{0D108BD9-81ED-4DB2-BD59-A6C34878D82A}">
                    <a16:rowId xmlns:a16="http://schemas.microsoft.com/office/drawing/2014/main" val="77577706"/>
                  </a:ext>
                </a:extLst>
              </a:tr>
            </a:tbl>
          </a:graphicData>
        </a:graphic>
      </p:graphicFrame>
      <p:sp>
        <p:nvSpPr>
          <p:cNvPr id="4" name="TextBox 3">
            <a:extLst>
              <a:ext uri="{FF2B5EF4-FFF2-40B4-BE49-F238E27FC236}">
                <a16:creationId xmlns:a16="http://schemas.microsoft.com/office/drawing/2014/main" id="{F32DE878-592A-10A6-620E-A7E8DFAE6A8B}"/>
              </a:ext>
            </a:extLst>
          </p:cNvPr>
          <p:cNvSpPr txBox="1"/>
          <p:nvPr/>
        </p:nvSpPr>
        <p:spPr>
          <a:xfrm>
            <a:off x="923026" y="734047"/>
            <a:ext cx="10308566" cy="369332"/>
          </a:xfrm>
          <a:prstGeom prst="rect">
            <a:avLst/>
          </a:prstGeom>
          <a:noFill/>
        </p:spPr>
        <p:txBody>
          <a:bodyPr wrap="square">
            <a:spAutoFit/>
          </a:bodyPr>
          <a:lstStyle/>
          <a:p>
            <a:pPr algn="ctr"/>
            <a:r>
              <a:rPr lang="en-GB" sz="1800" b="1" dirty="0">
                <a:latin typeface="Times New Roman" panose="02020603050405020304" pitchFamily="18" charset="0"/>
                <a:cs typeface="Times New Roman" panose="02020603050405020304" pitchFamily="18" charset="0"/>
              </a:rPr>
              <a:t>Data Dictionary</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7552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3" name="TextBox 2">
            <a:extLst>
              <a:ext uri="{FF2B5EF4-FFF2-40B4-BE49-F238E27FC236}">
                <a16:creationId xmlns:a16="http://schemas.microsoft.com/office/drawing/2014/main" id="{B944F49D-3868-25EA-380F-BB533B96C801}"/>
              </a:ext>
            </a:extLst>
          </p:cNvPr>
          <p:cNvSpPr txBox="1"/>
          <p:nvPr/>
        </p:nvSpPr>
        <p:spPr>
          <a:xfrm>
            <a:off x="923027" y="735045"/>
            <a:ext cx="10144664" cy="5382499"/>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Introduction</a:t>
            </a:r>
          </a:p>
          <a:p>
            <a:pPr algn="just">
              <a:buNone/>
            </a:pP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Airline Passenger Satisfaction</a:t>
            </a:r>
            <a:r>
              <a:rPr lang="en-US" dirty="0">
                <a:latin typeface="Times New Roman" panose="02020603050405020304" pitchFamily="18" charset="0"/>
                <a:cs typeface="Times New Roman" panose="02020603050405020304" pitchFamily="18" charset="0"/>
              </a:rPr>
              <a:t> refers to whether a passenger is satisfied or dissatisfied with the services provided by the airline.</a:t>
            </a:r>
          </a:p>
          <a:p>
            <a:pPr marL="342900" indent="-34290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Low satisfaction can impact customer retention, airline reputation, and long-term profitability.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Retaining loyal passengers is more cost-effective than acquiring new ones.</a:t>
            </a:r>
          </a:p>
          <a:p>
            <a:pPr marL="342900" indent="-34290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Understanding dissatisfaction reasons helps airlines improve services, operations, and customer experience.</a:t>
            </a:r>
          </a:p>
          <a:p>
            <a:pPr marL="342900" indent="-342900">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With the growth of digital systems, analyzing passenger data using </a:t>
            </a:r>
            <a:r>
              <a:rPr lang="en-US" b="1" dirty="0">
                <a:latin typeface="Times New Roman" panose="02020603050405020304" pitchFamily="18" charset="0"/>
                <a:cs typeface="Times New Roman" panose="02020603050405020304" pitchFamily="18" charset="0"/>
              </a:rPr>
              <a:t>ML </a:t>
            </a:r>
            <a:r>
              <a:rPr lang="en-US" dirty="0">
                <a:latin typeface="Times New Roman" panose="02020603050405020304" pitchFamily="18" charset="0"/>
                <a:cs typeface="Times New Roman" panose="02020603050405020304" pitchFamily="18" charset="0"/>
              </a:rPr>
              <a:t>has become more efficient and insightful.</a:t>
            </a:r>
          </a:p>
          <a:p>
            <a:pPr marL="342900" indent="-342900">
              <a:lnSpc>
                <a:spcPct val="150000"/>
              </a:lnSpc>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Machine Learning</a:t>
            </a:r>
            <a:r>
              <a:rPr lang="en-US" dirty="0">
                <a:latin typeface="Times New Roman" panose="02020603050405020304" pitchFamily="18" charset="0"/>
                <a:cs typeface="Times New Roman" panose="02020603050405020304" pitchFamily="18" charset="0"/>
              </a:rPr>
              <a:t> offers powerful tools to identify patterns and predict future behavior.</a:t>
            </a:r>
          </a:p>
          <a:p>
            <a:pPr marL="342900" indent="-342900"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project uses historical customer data to build a prediction model.</a:t>
            </a:r>
          </a:p>
          <a:p>
            <a:pPr marL="342900" indent="-342900" algn="just">
              <a:lnSpc>
                <a:spcPct val="15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outcome supports banks in making </a:t>
            </a:r>
            <a:r>
              <a:rPr lang="en-US" b="1" dirty="0">
                <a:latin typeface="Times New Roman" panose="02020603050405020304" pitchFamily="18" charset="0"/>
                <a:cs typeface="Times New Roman" panose="02020603050405020304" pitchFamily="18" charset="0"/>
              </a:rPr>
              <a:t>data-driven decisions</a:t>
            </a:r>
            <a:r>
              <a:rPr lang="en-US" dirty="0">
                <a:latin typeface="Times New Roman" panose="02020603050405020304" pitchFamily="18" charset="0"/>
                <a:cs typeface="Times New Roman" panose="02020603050405020304" pitchFamily="18" charset="0"/>
              </a:rPr>
              <a:t> to reduce Neutral or unsatisfied</a:t>
            </a:r>
          </a:p>
        </p:txBody>
      </p:sp>
    </p:spTree>
    <p:extLst>
      <p:ext uri="{BB962C8B-B14F-4D97-AF65-F5344CB8AC3E}">
        <p14:creationId xmlns:p14="http://schemas.microsoft.com/office/powerpoint/2010/main" val="1364506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8">
            <a:extLst>
              <a:ext uri="{FF2B5EF4-FFF2-40B4-BE49-F238E27FC236}">
                <a16:creationId xmlns:a16="http://schemas.microsoft.com/office/drawing/2014/main" id="{4FC82D9E-64E6-695A-4405-E8553E10C429}"/>
              </a:ext>
            </a:extLst>
          </p:cNvPr>
          <p:cNvGraphicFramePr>
            <a:graphicFrameLocks/>
          </p:cNvGraphicFramePr>
          <p:nvPr>
            <p:extLst>
              <p:ext uri="{D42A27DB-BD31-4B8C-83A1-F6EECF244321}">
                <p14:modId xmlns:p14="http://schemas.microsoft.com/office/powerpoint/2010/main" val="1166968387"/>
              </p:ext>
            </p:extLst>
          </p:nvPr>
        </p:nvGraphicFramePr>
        <p:xfrm>
          <a:off x="1051226" y="1219438"/>
          <a:ext cx="9930199" cy="4855472"/>
        </p:xfrm>
        <a:graphic>
          <a:graphicData uri="http://schemas.openxmlformats.org/drawingml/2006/table">
            <a:tbl>
              <a:tblPr firstRow="1" bandRow="1">
                <a:tableStyleId>{616DA210-FB5B-4158-B5E0-FEB733F419BA}</a:tableStyleId>
              </a:tblPr>
              <a:tblGrid>
                <a:gridCol w="2126607">
                  <a:extLst>
                    <a:ext uri="{9D8B030D-6E8A-4147-A177-3AD203B41FA5}">
                      <a16:colId xmlns:a16="http://schemas.microsoft.com/office/drawing/2014/main" val="412765677"/>
                    </a:ext>
                  </a:extLst>
                </a:gridCol>
                <a:gridCol w="1950898">
                  <a:extLst>
                    <a:ext uri="{9D8B030D-6E8A-4147-A177-3AD203B41FA5}">
                      <a16:colId xmlns:a16="http://schemas.microsoft.com/office/drawing/2014/main" val="1547423817"/>
                    </a:ext>
                  </a:extLst>
                </a:gridCol>
                <a:gridCol w="1950898">
                  <a:extLst>
                    <a:ext uri="{9D8B030D-6E8A-4147-A177-3AD203B41FA5}">
                      <a16:colId xmlns:a16="http://schemas.microsoft.com/office/drawing/2014/main" val="2686806294"/>
                    </a:ext>
                  </a:extLst>
                </a:gridCol>
                <a:gridCol w="1950898">
                  <a:extLst>
                    <a:ext uri="{9D8B030D-6E8A-4147-A177-3AD203B41FA5}">
                      <a16:colId xmlns:a16="http://schemas.microsoft.com/office/drawing/2014/main" val="1998006630"/>
                    </a:ext>
                  </a:extLst>
                </a:gridCol>
                <a:gridCol w="1950898">
                  <a:extLst>
                    <a:ext uri="{9D8B030D-6E8A-4147-A177-3AD203B41FA5}">
                      <a16:colId xmlns:a16="http://schemas.microsoft.com/office/drawing/2014/main" val="2175480709"/>
                    </a:ext>
                  </a:extLst>
                </a:gridCol>
              </a:tblGrid>
              <a:tr h="611201">
                <a:tc>
                  <a:txBody>
                    <a:bodyPr/>
                    <a:lstStyle/>
                    <a:p>
                      <a:pPr algn="ctr" fontAlgn="b"/>
                      <a:r>
                        <a:rPr lang="en-IN" b="1" dirty="0">
                          <a:effectLst/>
                          <a:latin typeface="Times New Roman" panose="02020603050405020304" pitchFamily="18" charset="0"/>
                          <a:cs typeface="Times New Roman" panose="02020603050405020304" pitchFamily="18" charset="0"/>
                        </a:rPr>
                        <a:t>AUTHOR NAME</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PAPER TITLE</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PROPOSED YEAR</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ALGORITHMS USED</a:t>
                      </a:r>
                    </a:p>
                  </a:txBody>
                  <a:tcPr anchor="ctr"/>
                </a:tc>
                <a:tc>
                  <a:txBody>
                    <a:bodyPr/>
                    <a:lstStyle/>
                    <a:p>
                      <a:pPr algn="ctr" fontAlgn="b"/>
                      <a:r>
                        <a:rPr lang="en-IN" b="1" dirty="0">
                          <a:effectLst/>
                          <a:latin typeface="Times New Roman" panose="02020603050405020304" pitchFamily="18" charset="0"/>
                          <a:cs typeface="Times New Roman" panose="02020603050405020304" pitchFamily="18" charset="0"/>
                        </a:rPr>
                        <a:t>ACCURACY RATE</a:t>
                      </a:r>
                    </a:p>
                  </a:txBody>
                  <a:tcPr anchor="ctr"/>
                </a:tc>
                <a:extLst>
                  <a:ext uri="{0D108BD9-81ED-4DB2-BD59-A6C34878D82A}">
                    <a16:rowId xmlns:a16="http://schemas.microsoft.com/office/drawing/2014/main" val="2828645944"/>
                  </a:ext>
                </a:extLst>
              </a:tr>
              <a:tr h="873145">
                <a:tc>
                  <a:txBody>
                    <a:bodyPr/>
                    <a:lstStyle/>
                    <a:p>
                      <a:pPr marL="0" marR="0" lvl="0" indent="0" algn="ctr" defTabSz="914400" rtl="0" eaLnBrk="1" fontAlgn="base" latinLnBrk="0" hangingPunct="1">
                        <a:lnSpc>
                          <a:spcPct val="100000"/>
                        </a:lnSpc>
                        <a:spcBef>
                          <a:spcPts val="0"/>
                        </a:spcBef>
                        <a:spcAft>
                          <a:spcPts val="0"/>
                        </a:spcAft>
                        <a:buClr>
                          <a:srgbClr val="000000"/>
                        </a:buClr>
                        <a:buSzTx/>
                        <a:buFont typeface="Arial"/>
                        <a:buNone/>
                        <a:tabLst/>
                        <a:defRPr/>
                      </a:pPr>
                      <a:r>
                        <a:rPr lang="en-IN" dirty="0">
                          <a:latin typeface="Times New Roman" panose="02020603050405020304" pitchFamily="18" charset="0"/>
                          <a:cs typeface="Times New Roman" panose="02020603050405020304" pitchFamily="18" charset="0"/>
                        </a:rPr>
                        <a:t>Sharma et al</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rtl="0">
                        <a:lnSpc>
                          <a:spcPct val="100000"/>
                        </a:lnSpc>
                        <a:spcBef>
                          <a:spcPts val="0"/>
                        </a:spcBef>
                        <a:spcAft>
                          <a:spcPts val="0"/>
                        </a:spcAft>
                        <a:buClr>
                          <a:srgbClr val="000000"/>
                        </a:buClr>
                        <a:buSzPts val="1600"/>
                        <a:buFont typeface="Book Antiqua"/>
                        <a:buNone/>
                      </a:pPr>
                      <a:r>
                        <a:rPr lang="en-US" dirty="0">
                          <a:latin typeface="Times New Roman" panose="02020603050405020304" pitchFamily="18" charset="0"/>
                          <a:cs typeface="Times New Roman" panose="02020603050405020304" pitchFamily="18" charset="0"/>
                        </a:rPr>
                        <a:t>Predicting Airline Satisfaction using Random Forest</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2020</a:t>
                      </a:r>
                    </a:p>
                  </a:txBody>
                  <a:tcPr anchor="ctr"/>
                </a:tc>
                <a:tc>
                  <a:txBody>
                    <a:bodyPr/>
                    <a:lstStyle/>
                    <a:p>
                      <a:pPr algn="ctr" fontAlgn="base"/>
                      <a:r>
                        <a:rPr lang="en-US" dirty="0">
                          <a:effectLst/>
                          <a:latin typeface="Times New Roman" panose="02020603050405020304" pitchFamily="18" charset="0"/>
                          <a:cs typeface="Times New Roman" panose="02020603050405020304" pitchFamily="18" charset="0"/>
                        </a:rPr>
                        <a:t>RF</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85%</a:t>
                      </a:r>
                    </a:p>
                  </a:txBody>
                  <a:tcPr anchor="ctr"/>
                </a:tc>
                <a:extLst>
                  <a:ext uri="{0D108BD9-81ED-4DB2-BD59-A6C34878D82A}">
                    <a16:rowId xmlns:a16="http://schemas.microsoft.com/office/drawing/2014/main" val="3167131362"/>
                  </a:ext>
                </a:extLst>
              </a:tr>
              <a:tr h="923552">
                <a:tc>
                  <a:txBody>
                    <a:bodyPr/>
                    <a:lstStyle/>
                    <a:p>
                      <a:pPr marL="0" marR="0" lvl="0" indent="0" algn="ctr" rtl="0">
                        <a:lnSpc>
                          <a:spcPct val="100000"/>
                        </a:lnSpc>
                        <a:spcBef>
                          <a:spcPts val="0"/>
                        </a:spcBef>
                        <a:spcAft>
                          <a:spcPts val="0"/>
                        </a:spcAft>
                        <a:buClr>
                          <a:srgbClr val="000000"/>
                        </a:buClr>
                        <a:buSzPts val="1600"/>
                        <a:buFont typeface="Book Antiqua"/>
                        <a:buNone/>
                      </a:pPr>
                      <a:r>
                        <a:rPr lang="en-IN" dirty="0">
                          <a:latin typeface="Times New Roman" panose="02020603050405020304" pitchFamily="18" charset="0"/>
                          <a:cs typeface="Times New Roman" panose="02020603050405020304" pitchFamily="18" charset="0"/>
                        </a:rPr>
                        <a:t>Li &amp; Wong</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rtl="0">
                        <a:lnSpc>
                          <a:spcPct val="100000"/>
                        </a:lnSpc>
                        <a:spcBef>
                          <a:spcPts val="0"/>
                        </a:spcBef>
                        <a:spcAft>
                          <a:spcPts val="0"/>
                        </a:spcAft>
                        <a:buClr>
                          <a:srgbClr val="000000"/>
                        </a:buClr>
                        <a:buSzPts val="1600"/>
                        <a:buFont typeface="Book Antiqua"/>
                        <a:buNone/>
                      </a:pPr>
                      <a:r>
                        <a:rPr lang="en-US" dirty="0">
                          <a:latin typeface="Times New Roman" panose="02020603050405020304" pitchFamily="18" charset="0"/>
                          <a:cs typeface="Times New Roman" panose="02020603050405020304" pitchFamily="18" charset="0"/>
                        </a:rPr>
                        <a:t>Segmenting Passengers with K-Means Clustering</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2021</a:t>
                      </a:r>
                    </a:p>
                  </a:txBody>
                  <a:tcPr anchor="ctr"/>
                </a:tc>
                <a:tc>
                  <a:txBody>
                    <a:bodyPr/>
                    <a:lstStyle/>
                    <a:p>
                      <a:pPr algn="ctr" fontAlgn="base"/>
                      <a:r>
                        <a:rPr lang="en-US" dirty="0">
                          <a:effectLst/>
                          <a:latin typeface="Times New Roman" panose="02020603050405020304" pitchFamily="18" charset="0"/>
                          <a:cs typeface="Times New Roman" panose="02020603050405020304" pitchFamily="18" charset="0"/>
                        </a:rPr>
                        <a:t>K-Mean</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73%</a:t>
                      </a:r>
                    </a:p>
                  </a:txBody>
                  <a:tcPr anchor="ctr"/>
                </a:tc>
                <a:extLst>
                  <a:ext uri="{0D108BD9-81ED-4DB2-BD59-A6C34878D82A}">
                    <a16:rowId xmlns:a16="http://schemas.microsoft.com/office/drawing/2014/main" val="4049488630"/>
                  </a:ext>
                </a:extLst>
              </a:tr>
              <a:tr h="873145">
                <a:tc>
                  <a:txBody>
                    <a:bodyPr/>
                    <a:lstStyle/>
                    <a:p>
                      <a:pPr marL="0" marR="0" lvl="0" indent="0" algn="ctr" rtl="0">
                        <a:lnSpc>
                          <a:spcPct val="100000"/>
                        </a:lnSpc>
                        <a:spcBef>
                          <a:spcPts val="0"/>
                        </a:spcBef>
                        <a:spcAft>
                          <a:spcPts val="0"/>
                        </a:spcAft>
                        <a:buClr>
                          <a:srgbClr val="000000"/>
                        </a:buClr>
                        <a:buSzPts val="1400"/>
                        <a:buFont typeface="Book Antiqua"/>
                        <a:buNone/>
                      </a:pPr>
                      <a:r>
                        <a:rPr lang="en-IN" dirty="0">
                          <a:latin typeface="Times New Roman" panose="02020603050405020304" pitchFamily="18" charset="0"/>
                          <a:cs typeface="Times New Roman" panose="02020603050405020304" pitchFamily="18" charset="0"/>
                        </a:rPr>
                        <a:t>Hernandez</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rtl="0">
                        <a:lnSpc>
                          <a:spcPct val="100000"/>
                        </a:lnSpc>
                        <a:spcBef>
                          <a:spcPts val="0"/>
                        </a:spcBef>
                        <a:spcAft>
                          <a:spcPts val="0"/>
                        </a:spcAft>
                        <a:buClr>
                          <a:srgbClr val="000000"/>
                        </a:buClr>
                        <a:buSzPts val="1400"/>
                        <a:buFont typeface="Book Antiqua"/>
                        <a:buNone/>
                      </a:pPr>
                      <a:r>
                        <a:rPr lang="en-IN" dirty="0">
                          <a:latin typeface="Times New Roman" panose="02020603050405020304" pitchFamily="18" charset="0"/>
                          <a:cs typeface="Times New Roman" panose="02020603050405020304" pitchFamily="18" charset="0"/>
                        </a:rPr>
                        <a:t>Clustering for Passenger Segmentation</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2019</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KNN</a:t>
                      </a: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78%</a:t>
                      </a:r>
                    </a:p>
                  </a:txBody>
                  <a:tcPr anchor="ctr"/>
                </a:tc>
                <a:extLst>
                  <a:ext uri="{0D108BD9-81ED-4DB2-BD59-A6C34878D82A}">
                    <a16:rowId xmlns:a16="http://schemas.microsoft.com/office/drawing/2014/main" val="3592334697"/>
                  </a:ext>
                </a:extLst>
              </a:tr>
              <a:tr h="1397032">
                <a:tc>
                  <a:txBody>
                    <a:bodyPr/>
                    <a:lstStyle/>
                    <a:p>
                      <a:pPr marL="0" marR="0" lvl="0" indent="0" algn="ctr" rtl="0">
                        <a:lnSpc>
                          <a:spcPct val="100000"/>
                        </a:lnSpc>
                        <a:spcBef>
                          <a:spcPts val="0"/>
                        </a:spcBef>
                        <a:spcAft>
                          <a:spcPts val="0"/>
                        </a:spcAft>
                        <a:buClr>
                          <a:srgbClr val="000000"/>
                        </a:buClr>
                        <a:buSzPts val="1600"/>
                        <a:buFont typeface="Book Antiqua"/>
                        <a:buNone/>
                      </a:pPr>
                      <a:r>
                        <a:rPr lang="en-IN" dirty="0">
                          <a:latin typeface="Times New Roman" panose="02020603050405020304" pitchFamily="18" charset="0"/>
                          <a:cs typeface="Times New Roman" panose="02020603050405020304" pitchFamily="18" charset="0"/>
                        </a:rPr>
                        <a:t>Wang et al</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rtl="0">
                        <a:lnSpc>
                          <a:spcPct val="100000"/>
                        </a:lnSpc>
                        <a:spcBef>
                          <a:spcPts val="0"/>
                        </a:spcBef>
                        <a:spcAft>
                          <a:spcPts val="0"/>
                        </a:spcAft>
                        <a:buClr>
                          <a:srgbClr val="000000"/>
                        </a:buClr>
                        <a:buSzPts val="1600"/>
                        <a:buFont typeface="Book Antiqua"/>
                        <a:buNone/>
                      </a:pPr>
                      <a:r>
                        <a:rPr lang="en-IN" dirty="0">
                          <a:latin typeface="Times New Roman" panose="02020603050405020304" pitchFamily="18" charset="0"/>
                          <a:cs typeface="Times New Roman" panose="02020603050405020304" pitchFamily="18" charset="0"/>
                        </a:rPr>
                        <a:t>Passenger Satisfaction Prediction using Supervised Learning</a:t>
                      </a:r>
                      <a:endParaRPr lang="en-US" sz="1800" dirty="0">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2020</a:t>
                      </a:r>
                    </a:p>
                  </a:txBody>
                  <a:tcPr anchor="ctr"/>
                </a:tc>
                <a:tc>
                  <a:txBody>
                    <a:bodyPr/>
                    <a:lstStyle/>
                    <a:p>
                      <a:pPr algn="ctr" fontAlgn="base"/>
                      <a:r>
                        <a:rPr lang="en-US" dirty="0">
                          <a:effectLst/>
                          <a:latin typeface="Times New Roman" panose="02020603050405020304" pitchFamily="18" charset="0"/>
                          <a:cs typeface="Times New Roman" panose="02020603050405020304" pitchFamily="18" charset="0"/>
                        </a:rPr>
                        <a:t>LR</a:t>
                      </a:r>
                      <a:endParaRPr lang="en-IN" dirty="0">
                        <a:effectLst/>
                        <a:latin typeface="Times New Roman" panose="02020603050405020304" pitchFamily="18" charset="0"/>
                        <a:cs typeface="Times New Roman" panose="02020603050405020304" pitchFamily="18" charset="0"/>
                      </a:endParaRPr>
                    </a:p>
                  </a:txBody>
                  <a:tcPr anchor="ctr"/>
                </a:tc>
                <a:tc>
                  <a:txBody>
                    <a:bodyPr/>
                    <a:lstStyle/>
                    <a:p>
                      <a:pPr algn="ctr" fontAlgn="base"/>
                      <a:r>
                        <a:rPr lang="en-IN" dirty="0">
                          <a:effectLst/>
                          <a:latin typeface="Times New Roman" panose="02020603050405020304" pitchFamily="18" charset="0"/>
                          <a:cs typeface="Times New Roman" panose="02020603050405020304" pitchFamily="18" charset="0"/>
                        </a:rPr>
                        <a:t>85%</a:t>
                      </a:r>
                    </a:p>
                  </a:txBody>
                  <a:tcPr anchor="ctr"/>
                </a:tc>
                <a:extLst>
                  <a:ext uri="{0D108BD9-81ED-4DB2-BD59-A6C34878D82A}">
                    <a16:rowId xmlns:a16="http://schemas.microsoft.com/office/drawing/2014/main" val="803143199"/>
                  </a:ext>
                </a:extLst>
              </a:tr>
            </a:tbl>
          </a:graphicData>
        </a:graphic>
      </p:graphicFrame>
      <p:sp>
        <p:nvSpPr>
          <p:cNvPr id="4" name="TextBox 3">
            <a:extLst>
              <a:ext uri="{FF2B5EF4-FFF2-40B4-BE49-F238E27FC236}">
                <a16:creationId xmlns:a16="http://schemas.microsoft.com/office/drawing/2014/main" id="{E54A27E5-1BE6-22D1-3DD9-0092A72BCE17}"/>
              </a:ext>
            </a:extLst>
          </p:cNvPr>
          <p:cNvSpPr txBox="1"/>
          <p:nvPr/>
        </p:nvSpPr>
        <p:spPr>
          <a:xfrm>
            <a:off x="1193800" y="783090"/>
            <a:ext cx="9513121"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LITERATURE REVIEW</a:t>
            </a:r>
            <a:endParaRPr lang="en-IN" sz="2000" dirty="0"/>
          </a:p>
        </p:txBody>
      </p:sp>
    </p:spTree>
    <p:extLst>
      <p:ext uri="{BB962C8B-B14F-4D97-AF65-F5344CB8AC3E}">
        <p14:creationId xmlns:p14="http://schemas.microsoft.com/office/powerpoint/2010/main" val="64581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B3A1F0-E1F1-0156-E76D-00ECCE930543}"/>
              </a:ext>
            </a:extLst>
          </p:cNvPr>
          <p:cNvSpPr txBox="1"/>
          <p:nvPr/>
        </p:nvSpPr>
        <p:spPr>
          <a:xfrm>
            <a:off x="888520" y="1811546"/>
            <a:ext cx="10127411" cy="2723823"/>
          </a:xfrm>
          <a:prstGeom prst="rect">
            <a:avLst/>
          </a:prstGeom>
          <a:noFill/>
        </p:spPr>
        <p:txBody>
          <a:bodyPr wrap="square">
            <a:spAutoFit/>
          </a:bodyPr>
          <a:lstStyle/>
          <a:p>
            <a:pPr lvl="0" algn="ctr" rtl="0">
              <a:lnSpc>
                <a:spcPct val="90000"/>
              </a:lnSpc>
              <a:spcBef>
                <a:spcPts val="0"/>
              </a:spcBef>
              <a:spcAft>
                <a:spcPts val="0"/>
              </a:spcAft>
              <a:buClr>
                <a:schemeClr val="dk1"/>
              </a:buClr>
              <a:buSzPts val="2000"/>
            </a:pPr>
            <a:r>
              <a:rPr lang="en-US" sz="3000" b="1" dirty="0">
                <a:latin typeface="Times New Roman"/>
                <a:ea typeface="Times New Roman"/>
                <a:cs typeface="Times New Roman"/>
                <a:sym typeface="Times New Roman"/>
              </a:rPr>
              <a:t>Existing Methods </a:t>
            </a:r>
            <a:br>
              <a:rPr lang="en-US" sz="1800" b="1" dirty="0">
                <a:latin typeface="Times New Roman"/>
                <a:ea typeface="Times New Roman"/>
                <a:cs typeface="Times New Roman"/>
                <a:sym typeface="Times New Roman"/>
              </a:rPr>
            </a:br>
            <a:endParaRPr lang="en-US" sz="1800" dirty="0">
              <a:latin typeface="Times New Roman" pitchFamily="18" charset="0"/>
              <a:cs typeface="Times New Roman" pitchFamily="18" charset="0"/>
            </a:endParaRP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r>
              <a:rPr lang="en-US" sz="2000" dirty="0">
                <a:latin typeface="Times New Roman" panose="02020603050405020304" pitchFamily="18" charset="0"/>
                <a:cs typeface="Times New Roman" pitchFamily="18" charset="0"/>
              </a:rPr>
              <a:t>Previously, Authors are used Decision Tree, Logistic Regression and KNN, it was found a low accuracy level. This is chances to predict a wrong output. </a:t>
            </a: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endParaRPr lang="en-US" sz="2000" dirty="0">
              <a:latin typeface="Times New Roman" panose="02020603050405020304" pitchFamily="18" charset="0"/>
              <a:cs typeface="Times New Roman" pitchFamily="18" charset="0"/>
            </a:endParaRP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r>
              <a:rPr lang="en-US" sz="2000" dirty="0">
                <a:latin typeface="Times New Roman" panose="02020603050405020304" pitchFamily="18" charset="0"/>
                <a:cs typeface="Times New Roman" pitchFamily="18" charset="0"/>
              </a:rPr>
              <a:t>So, we trained the dataset and use the different types of machine learning algorithm.</a:t>
            </a: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endParaRPr lang="en-US" sz="2000" dirty="0">
              <a:latin typeface="Times New Roman" panose="02020603050405020304" pitchFamily="18" charset="0"/>
              <a:cs typeface="Times New Roman" pitchFamily="18" charset="0"/>
            </a:endParaRPr>
          </a:p>
          <a:p>
            <a:pPr marL="342900" lvl="0" indent="-342900" algn="just" rtl="0">
              <a:lnSpc>
                <a:spcPct val="90000"/>
              </a:lnSpc>
              <a:spcBef>
                <a:spcPts val="0"/>
              </a:spcBef>
              <a:spcAft>
                <a:spcPts val="0"/>
              </a:spcAft>
              <a:buClr>
                <a:schemeClr val="dk1"/>
              </a:buClr>
              <a:buSzPts val="2000"/>
              <a:buFont typeface="Wingdings" panose="05000000000000000000" pitchFamily="2" charset="2"/>
              <a:buChar char="v"/>
            </a:pPr>
            <a:r>
              <a:rPr lang="en-US" sz="2000" dirty="0">
                <a:latin typeface="Times New Roman" panose="02020603050405020304" pitchFamily="18" charset="0"/>
                <a:cs typeface="Times New Roman" pitchFamily="18" charset="0"/>
              </a:rPr>
              <a:t>They are Random Forest and XGBoost. And I am going to use SMOTE technique for high accuracy level. </a:t>
            </a:r>
          </a:p>
        </p:txBody>
      </p:sp>
    </p:spTree>
    <p:extLst>
      <p:ext uri="{BB962C8B-B14F-4D97-AF65-F5344CB8AC3E}">
        <p14:creationId xmlns:p14="http://schemas.microsoft.com/office/powerpoint/2010/main" val="1095445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6FC3F4-B4C8-D8BD-E3D9-00C09C3BF4B5}"/>
              </a:ext>
            </a:extLst>
          </p:cNvPr>
          <p:cNvSpPr>
            <a:spLocks noGrp="1"/>
          </p:cNvSpPr>
          <p:nvPr>
            <p:ph type="title"/>
          </p:nvPr>
        </p:nvSpPr>
        <p:spPr>
          <a:xfrm>
            <a:off x="1295401" y="1413452"/>
            <a:ext cx="9601196" cy="1303867"/>
          </a:xfrm>
        </p:spPr>
        <p:txBody>
          <a:bodyPr>
            <a:normAutofit/>
          </a:bodyPr>
          <a:lstStyle/>
          <a:p>
            <a:r>
              <a:rPr lang="en-US" sz="3000" b="1" dirty="0">
                <a:latin typeface="Times New Roman" panose="02020603050405020304" pitchFamily="18" charset="0"/>
                <a:cs typeface="Times New Roman" panose="02020603050405020304" pitchFamily="18" charset="0"/>
              </a:rPr>
              <a:t>Module Description</a:t>
            </a:r>
            <a:endParaRPr lang="en-IN" sz="3000" dirty="0"/>
          </a:p>
        </p:txBody>
      </p:sp>
      <p:sp>
        <p:nvSpPr>
          <p:cNvPr id="5" name="Content Placeholder 4">
            <a:extLst>
              <a:ext uri="{FF2B5EF4-FFF2-40B4-BE49-F238E27FC236}">
                <a16:creationId xmlns:a16="http://schemas.microsoft.com/office/drawing/2014/main" id="{77DF041C-BBE7-000D-A815-4B3E5D9EA3C7}"/>
              </a:ext>
            </a:extLst>
          </p:cNvPr>
          <p:cNvSpPr>
            <a:spLocks noGrp="1"/>
          </p:cNvSpPr>
          <p:nvPr>
            <p:ph idx="1"/>
          </p:nvPr>
        </p:nvSpPr>
        <p:spPr>
          <a:xfrm>
            <a:off x="4149305" y="2600065"/>
            <a:ext cx="6402235" cy="3318936"/>
          </a:xfrm>
        </p:spPr>
        <p:txBody>
          <a:bodyPr/>
          <a:lstStyle/>
          <a:p>
            <a:pPr>
              <a:buClr>
                <a:schemeClr val="tx1"/>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Data Preprocessing &amp; EDA</a:t>
            </a:r>
          </a:p>
          <a:p>
            <a:pPr>
              <a:buClr>
                <a:schemeClr val="tx1"/>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Model Building</a:t>
            </a:r>
          </a:p>
          <a:p>
            <a:pPr>
              <a:buClr>
                <a:schemeClr val="tx1"/>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Handled Imbalanced Data</a:t>
            </a:r>
          </a:p>
          <a:p>
            <a:pPr>
              <a:buClr>
                <a:schemeClr val="tx1"/>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Model Evaluation</a:t>
            </a:r>
          </a:p>
          <a:p>
            <a:pPr>
              <a:buClr>
                <a:schemeClr val="tx1"/>
              </a:buCl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Future Work</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671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FCFEBC-AF45-E7A1-9BE0-9163866881E0}"/>
              </a:ext>
            </a:extLst>
          </p:cNvPr>
          <p:cNvSpPr txBox="1"/>
          <p:nvPr/>
        </p:nvSpPr>
        <p:spPr>
          <a:xfrm>
            <a:off x="1174630" y="1809011"/>
            <a:ext cx="9842740" cy="3477875"/>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Data Preprocessing &amp; EDA</a:t>
            </a:r>
          </a:p>
          <a:p>
            <a:pPr marL="457200" indent="-457200" algn="ctr">
              <a:buFont typeface="Wingdings" panose="05000000000000000000" pitchFamily="2" charset="2"/>
              <a:buChar char="v"/>
            </a:pPr>
            <a:endParaRPr lang="en-US" sz="3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First, we checked the dataset for any missing or null values and cleaned them.</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Encoded categorical columns like </a:t>
            </a:r>
            <a:r>
              <a:rPr lang="en-US" sz="2000" b="1" dirty="0">
                <a:latin typeface="Times New Roman" panose="02020603050405020304" pitchFamily="18" charset="0"/>
                <a:cs typeface="Times New Roman" panose="02020603050405020304" pitchFamily="18" charset="0"/>
              </a:rPr>
              <a:t>Gender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Class </a:t>
            </a:r>
            <a:r>
              <a:rPr lang="en-US" sz="2000" dirty="0">
                <a:latin typeface="Times New Roman" panose="02020603050405020304" pitchFamily="18" charset="0"/>
                <a:cs typeface="Times New Roman" panose="02020603050405020304" pitchFamily="18" charset="0"/>
              </a:rPr>
              <a:t> using Label Encoding.</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Ensured the data was clean, balanced, and properly formatted before feeding it to ML models.</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Performed </a:t>
            </a:r>
            <a:r>
              <a:rPr lang="en-US" sz="2000" b="1" dirty="0">
                <a:latin typeface="Times New Roman" panose="02020603050405020304" pitchFamily="18" charset="0"/>
                <a:cs typeface="Times New Roman" panose="02020603050405020304" pitchFamily="18" charset="0"/>
              </a:rPr>
              <a:t>Exploratory Data Analysis (EDA)</a:t>
            </a:r>
            <a:r>
              <a:rPr lang="en-US" sz="2000" dirty="0">
                <a:latin typeface="Times New Roman" panose="02020603050405020304" pitchFamily="18" charset="0"/>
                <a:cs typeface="Times New Roman" panose="02020603050405020304" pitchFamily="18" charset="0"/>
              </a:rPr>
              <a:t> using:</a:t>
            </a:r>
          </a:p>
          <a:p>
            <a:pPr marL="1257300" lvl="2"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CountPlot </a:t>
            </a:r>
            <a:r>
              <a:rPr lang="en-US" sz="2000" dirty="0">
                <a:latin typeface="Times New Roman" panose="02020603050405020304" pitchFamily="18" charset="0"/>
                <a:cs typeface="Times New Roman" panose="02020603050405020304" pitchFamily="18" charset="0"/>
              </a:rPr>
              <a:t>to check count of Class vs Satisfaction and Gender vs Satisfaction.</a:t>
            </a:r>
            <a:endParaRPr lang="en-US" sz="2000" b="1" dirty="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Boxplot</a:t>
            </a:r>
            <a:r>
              <a:rPr lang="en-US" sz="2000" dirty="0">
                <a:latin typeface="Times New Roman" panose="02020603050405020304" pitchFamily="18" charset="0"/>
                <a:cs typeface="Times New Roman" panose="02020603050405020304" pitchFamily="18" charset="0"/>
              </a:rPr>
              <a:t> to detect outliers in features like Departure Delay and Arrival Delay .</a:t>
            </a:r>
          </a:p>
          <a:p>
            <a:pPr marL="1257300" lvl="2" indent="-342900">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Heatmap</a:t>
            </a:r>
            <a:r>
              <a:rPr lang="en-US" sz="2000" dirty="0">
                <a:latin typeface="Times New Roman" panose="02020603050405020304" pitchFamily="18" charset="0"/>
                <a:cs typeface="Times New Roman" panose="02020603050405020304" pitchFamily="18" charset="0"/>
              </a:rPr>
              <a:t> to check correlation between features.</a:t>
            </a:r>
          </a:p>
        </p:txBody>
      </p:sp>
    </p:spTree>
    <p:extLst>
      <p:ext uri="{BB962C8B-B14F-4D97-AF65-F5344CB8AC3E}">
        <p14:creationId xmlns:p14="http://schemas.microsoft.com/office/powerpoint/2010/main" val="1646532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DE9266-3A7B-B3F1-B00D-062E9BA2D081}"/>
              </a:ext>
            </a:extLst>
          </p:cNvPr>
          <p:cNvSpPr txBox="1"/>
          <p:nvPr/>
        </p:nvSpPr>
        <p:spPr>
          <a:xfrm>
            <a:off x="1071113" y="1852576"/>
            <a:ext cx="10049774" cy="3477875"/>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Model Building</a:t>
            </a:r>
          </a:p>
          <a:p>
            <a:pPr algn="ctr">
              <a:buNone/>
            </a:pPr>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 built different machine learning models like Logistic Regression, Decision Tree, Random Forest, and XGBoost.</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These models were chosen based on their popularity and effectiveness in classification problems.</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Each model was trained using the preprocessed dataset.</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 used </a:t>
            </a:r>
            <a:r>
              <a:rPr lang="en-US" sz="2000" b="1" dirty="0">
                <a:latin typeface="Times New Roman" panose="02020603050405020304" pitchFamily="18" charset="0"/>
                <a:cs typeface="Times New Roman" panose="02020603050405020304" pitchFamily="18" charset="0"/>
              </a:rPr>
              <a:t>train-test split</a:t>
            </a:r>
            <a:r>
              <a:rPr lang="en-US" sz="2000" dirty="0">
                <a:latin typeface="Times New Roman" panose="02020603050405020304" pitchFamily="18" charset="0"/>
                <a:cs typeface="Times New Roman" panose="02020603050405020304" pitchFamily="18" charset="0"/>
              </a:rPr>
              <a:t> to avoid overfitting and ensure fair evaluation.</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 compared the performance of each model using evaluation metrics. </a:t>
            </a:r>
          </a:p>
          <a:p>
            <a:pPr marL="285750" indent="-28575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XGBoost </a:t>
            </a:r>
            <a:r>
              <a:rPr lang="en-US" sz="2000" dirty="0">
                <a:latin typeface="Times New Roman" panose="02020603050405020304" pitchFamily="18" charset="0"/>
                <a:cs typeface="Times New Roman" panose="02020603050405020304" pitchFamily="18" charset="0"/>
              </a:rPr>
              <a:t>gave the best result among all the models tested.</a:t>
            </a:r>
          </a:p>
        </p:txBody>
      </p:sp>
    </p:spTree>
    <p:extLst>
      <p:ext uri="{BB962C8B-B14F-4D97-AF65-F5344CB8AC3E}">
        <p14:creationId xmlns:p14="http://schemas.microsoft.com/office/powerpoint/2010/main" val="1375002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73382F-17F4-61C6-7B7E-D550AB4F79DD}"/>
              </a:ext>
            </a:extLst>
          </p:cNvPr>
          <p:cNvSpPr txBox="1"/>
          <p:nvPr/>
        </p:nvSpPr>
        <p:spPr>
          <a:xfrm>
            <a:off x="1130059" y="1777041"/>
            <a:ext cx="10084281" cy="2246769"/>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Handling Imbalanced Data </a:t>
            </a:r>
          </a:p>
          <a:p>
            <a:pPr algn="ctr">
              <a:buNone/>
            </a:pPr>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original dataset had more Unsatisfied compared to Satisfied ones.</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 used </a:t>
            </a:r>
            <a:r>
              <a:rPr lang="en-US" sz="2000" b="1" dirty="0">
                <a:latin typeface="Times New Roman" panose="02020603050405020304" pitchFamily="18" charset="0"/>
                <a:cs typeface="Times New Roman" panose="02020603050405020304" pitchFamily="18" charset="0"/>
              </a:rPr>
              <a:t>SMOTE</a:t>
            </a:r>
            <a:r>
              <a:rPr lang="en-US" sz="2000" dirty="0">
                <a:latin typeface="Times New Roman" panose="02020603050405020304" pitchFamily="18" charset="0"/>
                <a:cs typeface="Times New Roman" panose="02020603050405020304" pitchFamily="18" charset="0"/>
              </a:rPr>
              <a:t> to create synthetic samples of the minority class.</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helped balance the dataset and avoid bias in prediction.</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After applying SMOTE, the model performed better in identifying churned customers.</a:t>
            </a:r>
          </a:p>
        </p:txBody>
      </p:sp>
    </p:spTree>
    <p:extLst>
      <p:ext uri="{BB962C8B-B14F-4D97-AF65-F5344CB8AC3E}">
        <p14:creationId xmlns:p14="http://schemas.microsoft.com/office/powerpoint/2010/main" val="1603583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AC48B3-4A4E-0DEC-BC4B-B0FA6518211D}"/>
              </a:ext>
            </a:extLst>
          </p:cNvPr>
          <p:cNvSpPr txBox="1"/>
          <p:nvPr/>
        </p:nvSpPr>
        <p:spPr>
          <a:xfrm>
            <a:off x="993475" y="1777042"/>
            <a:ext cx="10205049" cy="2554545"/>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Model Evaluation</a:t>
            </a:r>
          </a:p>
          <a:p>
            <a:pPr algn="ctr">
              <a:buNone/>
            </a:pPr>
            <a:endParaRPr lang="en-US" sz="3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We used accuracy, precision, recall, and F1-score to evaluate model performance.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confusion matrix helped us visualize how many predictions were correct and wrong.</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ROC curve and AUC score were used to measure how well the model distinguished Satisfied vs Unsatisfied Passengers.</a:t>
            </a:r>
          </a:p>
          <a:p>
            <a:pPr marL="342900" indent="-3429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XGBoost </a:t>
            </a:r>
            <a:r>
              <a:rPr lang="en-US" sz="2000" dirty="0">
                <a:latin typeface="Times New Roman" panose="02020603050405020304" pitchFamily="18" charset="0"/>
                <a:cs typeface="Times New Roman" panose="02020603050405020304" pitchFamily="18" charset="0"/>
              </a:rPr>
              <a:t>had the highest accuracy and best balance of precision and recall.</a:t>
            </a:r>
          </a:p>
        </p:txBody>
      </p:sp>
    </p:spTree>
    <p:extLst>
      <p:ext uri="{BB962C8B-B14F-4D97-AF65-F5344CB8AC3E}">
        <p14:creationId xmlns:p14="http://schemas.microsoft.com/office/powerpoint/2010/main" val="927658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733774-C269-FA81-DC10-0ACBA612FEBD}"/>
              </a:ext>
            </a:extLst>
          </p:cNvPr>
          <p:cNvSpPr txBox="1"/>
          <p:nvPr/>
        </p:nvSpPr>
        <p:spPr>
          <a:xfrm>
            <a:off x="967596" y="1794295"/>
            <a:ext cx="10256807" cy="3170099"/>
          </a:xfrm>
          <a:prstGeom prst="rect">
            <a:avLst/>
          </a:prstGeom>
          <a:noFill/>
        </p:spPr>
        <p:txBody>
          <a:bodyPr wrap="square">
            <a:spAutoFit/>
          </a:bodyPr>
          <a:lstStyle/>
          <a:p>
            <a:pPr algn="ctr">
              <a:buNone/>
            </a:pPr>
            <a:r>
              <a:rPr lang="en-US" sz="3000" b="1" dirty="0">
                <a:latin typeface="Times New Roman" panose="02020603050405020304" pitchFamily="18" charset="0"/>
                <a:cs typeface="Times New Roman" panose="02020603050405020304" pitchFamily="18" charset="0"/>
              </a:rPr>
              <a:t>Future Works</a:t>
            </a:r>
          </a:p>
          <a:p>
            <a:pPr algn="ctr">
              <a:buNone/>
            </a:pPr>
            <a:endParaRPr lang="en-US" sz="3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Plan to try deep learning models like </a:t>
            </a:r>
            <a:r>
              <a:rPr lang="en-IN" sz="2000" b="1" i="0" dirty="0">
                <a:solidFill>
                  <a:srgbClr val="001D35"/>
                </a:solidFill>
                <a:effectLst/>
                <a:latin typeface="Times New Roman" panose="02020603050405020304" pitchFamily="18" charset="0"/>
                <a:cs typeface="Times New Roman" panose="02020603050405020304" pitchFamily="18" charset="0"/>
              </a:rPr>
              <a:t>Convolutional</a:t>
            </a:r>
            <a:r>
              <a:rPr lang="en-US" sz="2000" b="1" dirty="0">
                <a:latin typeface="Times New Roman" panose="02020603050405020304" pitchFamily="18" charset="0"/>
                <a:cs typeface="Times New Roman" panose="02020603050405020304" pitchFamily="18" charset="0"/>
              </a:rPr>
              <a:t> Neural Networks (CNN)</a:t>
            </a:r>
            <a:r>
              <a:rPr lang="en-US" sz="2000" dirty="0">
                <a:latin typeface="Times New Roman" panose="02020603050405020304" pitchFamily="18" charset="0"/>
                <a:cs typeface="Times New Roman" panose="02020603050405020304" pitchFamily="18" charset="0"/>
              </a:rPr>
              <a:t> for better accuracy.</a:t>
            </a:r>
          </a:p>
          <a:p>
            <a:pPr marL="342900" indent="-342900">
              <a:buFont typeface="Wingdings" panose="05000000000000000000" pitchFamily="2" charset="2"/>
              <a:buChar char="v"/>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real-time passenger feedback, travel history, and sentiment analysis from reviews to enhance prediction accuracy.</a:t>
            </a:r>
          </a:p>
          <a:p>
            <a:pPr marL="342900" indent="-342900">
              <a:buFont typeface="Wingdings" panose="05000000000000000000" pitchFamily="2" charset="2"/>
              <a:buChar char="v"/>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Plan to develop a web or mobile application for airlines to monitor passenger satisfaction and service quality in real time.</a:t>
            </a:r>
          </a:p>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Collect more</a:t>
            </a:r>
            <a:r>
              <a:rPr lang="en-US" sz="2000" b="1" dirty="0">
                <a:latin typeface="Times New Roman" panose="02020603050405020304" pitchFamily="18" charset="0"/>
                <a:cs typeface="Times New Roman" panose="02020603050405020304" pitchFamily="18" charset="0"/>
              </a:rPr>
              <a:t> updated data </a:t>
            </a:r>
            <a:r>
              <a:rPr lang="en-US" sz="2000" dirty="0">
                <a:latin typeface="Times New Roman" panose="02020603050405020304" pitchFamily="18" charset="0"/>
                <a:cs typeface="Times New Roman" panose="02020603050405020304" pitchFamily="18" charset="0"/>
              </a:rPr>
              <a:t>for training to improve model generalization.</a:t>
            </a:r>
          </a:p>
        </p:txBody>
      </p:sp>
    </p:spTree>
    <p:extLst>
      <p:ext uri="{BB962C8B-B14F-4D97-AF65-F5344CB8AC3E}">
        <p14:creationId xmlns:p14="http://schemas.microsoft.com/office/powerpoint/2010/main" val="1745029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46D3B-E83A-52FD-E0AA-7F2AF9C5BA73}"/>
              </a:ext>
            </a:extLst>
          </p:cNvPr>
          <p:cNvSpPr txBox="1"/>
          <p:nvPr/>
        </p:nvSpPr>
        <p:spPr>
          <a:xfrm>
            <a:off x="966159" y="1466491"/>
            <a:ext cx="10006641" cy="2985433"/>
          </a:xfrm>
          <a:prstGeom prst="rect">
            <a:avLst/>
          </a:prstGeom>
          <a:noFill/>
        </p:spPr>
        <p:txBody>
          <a:bodyPr wrap="square">
            <a:spAutoFit/>
          </a:bodyPr>
          <a:lstStyle/>
          <a:p>
            <a:pPr algn="ctr"/>
            <a:r>
              <a:rPr lang="en-US" sz="3000" b="1" dirty="0">
                <a:latin typeface="Times New Roman" panose="02020603050405020304" pitchFamily="18" charset="0"/>
                <a:cs typeface="Times New Roman" panose="02020603050405020304" pitchFamily="18" charset="0"/>
              </a:rPr>
              <a:t>Conclusion</a:t>
            </a:r>
          </a:p>
          <a:p>
            <a:pPr algn="just"/>
            <a:endParaRPr lang="en-US"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In this project, we focused on predicting Airline Passenger Satisfaction using machine learning techniques. After performing thorough data preprocessing and handling class imbalance with SMOTE, we trained and evaluated multiple models. Among them, XGBoost provided the highest accuracy and proved to be the most effective. Our model can help banks identify Passengers who are likely to Unsatisfied, enabling them to take early action to improve Passengers Feedback. This project highlights how machine learning can be a powerful tool in solving real-world business problems.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2179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E1F32D-5392-2A49-9EB0-707D9957D400}"/>
              </a:ext>
            </a:extLst>
          </p:cNvPr>
          <p:cNvSpPr txBox="1"/>
          <p:nvPr/>
        </p:nvSpPr>
        <p:spPr>
          <a:xfrm>
            <a:off x="1262332" y="2317319"/>
            <a:ext cx="9667335" cy="1015663"/>
          </a:xfrm>
          <a:prstGeom prst="rect">
            <a:avLst/>
          </a:prstGeom>
          <a:noFill/>
        </p:spPr>
        <p:txBody>
          <a:bodyPr wrap="square">
            <a:spAutoFit/>
          </a:bodyPr>
          <a:lstStyle/>
          <a:p>
            <a:pPr algn="ctr"/>
            <a:r>
              <a:rPr lang="en-US" sz="6000" b="1" dirty="0">
                <a:latin typeface="Times New Roman" panose="02020603050405020304" pitchFamily="18" charset="0"/>
                <a:cs typeface="Times New Roman" panose="02020603050405020304" pitchFamily="18" charset="0"/>
              </a:rPr>
              <a:t>THANK YOU</a:t>
            </a:r>
            <a:endParaRPr lang="en-IN" sz="6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107411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845</TotalTime>
  <Words>1343</Words>
  <Application>Microsoft Office PowerPoint</Application>
  <PresentationFormat>Widescreen</PresentationFormat>
  <Paragraphs>153</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Book Antiqua</vt:lpstr>
      <vt:lpstr>Calibri</vt:lpstr>
      <vt:lpstr>Courier New</vt:lpstr>
      <vt:lpstr>Garamond</vt:lpstr>
      <vt:lpstr>Times New Roman</vt:lpstr>
      <vt:lpstr>Wingdings</vt:lpstr>
      <vt:lpstr>Organic</vt:lpstr>
      <vt:lpstr>Predicting Airline Passenger  Satisfaction Using ML</vt:lpstr>
      <vt:lpstr>PowerPoint Presentation</vt:lpstr>
      <vt:lpstr>PowerPoint Presentation</vt:lpstr>
      <vt:lpstr>PowerPoint Presentation</vt:lpstr>
      <vt:lpstr>PowerPoint Presentation</vt:lpstr>
      <vt:lpstr>PowerPoint Presentation</vt:lpstr>
      <vt:lpstr>PowerPoint Presentation</vt:lpstr>
      <vt:lpstr>Module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STANLEY</dc:creator>
  <cp:lastModifiedBy>Akash Muthu</cp:lastModifiedBy>
  <cp:revision>36</cp:revision>
  <dcterms:created xsi:type="dcterms:W3CDTF">2022-11-21T05:42:27Z</dcterms:created>
  <dcterms:modified xsi:type="dcterms:W3CDTF">2025-05-09T15:08:55Z</dcterms:modified>
</cp:coreProperties>
</file>